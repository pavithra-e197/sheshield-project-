
<file path=[Content_Types].xml><?xml version="1.0" encoding="utf-8"?>
<Types xmlns="http://schemas.openxmlformats.org/package/2006/content-types">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1" roundtripDataSignature="AMtx7mjW3Jl/8ZdPGIIYtDvxKIzqc3KGD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76" d="100"/>
          <a:sy n="76" d="100"/>
        </p:scale>
        <p:origin x="-336" y="1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74268619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1" name="Google Shape;91;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1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0" name="Google Shape;100;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g37432561ec5_0_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6" name="Google Shape;106;g37432561ec5_0_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7432561ec5_0_2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7432561ec5_0_2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6" name="Google Shape;116;g37432561ec5_0_24: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IN"/>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37432561ec5_1_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37432561ec5_1_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2" name="Google Shape;122;g37432561ec5_1_11: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IN"/>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37432561ec5_1_2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 name="Google Shape;128;g37432561ec5_1_2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g37432561ec5_1_22: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IN"/>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1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5" name="Google Shape;135;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1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3" name="Google Shape;143;p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g374603a6cbf_2_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9" name="Google Shape;149;g374603a6cbf_2_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374603a6cbf_2_2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5" name="Google Shape;155;g374603a6cbf_2_2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374603a6cbf_2_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1" name="Google Shape;161;g374603a6cbf_2_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g374603a6cbf_2_5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7" name="Google Shape;167;g374603a6cbf_2_5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8" name="Google Shape;168;g374603a6cbf_2_50: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IN"/>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g374603a6cbf_2_1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3" name="Google Shape;173;g374603a6cbf_2_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g374603a6cbf_2_3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0" name="Google Shape;180;g374603a6cbf_2_3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6" name="Google Shape;186;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g374603a6cbf_0_5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2" name="Google Shape;192;g374603a6cbf_0_5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3" name="Google Shape;193;g374603a6cbf_0_56: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IN"/>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g374603a6cbf_0_6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8" name="Google Shape;198;g374603a6cbf_0_6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9" name="Google Shape;199;g374603a6cbf_0_66: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IN"/>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g37432561ec5_1_2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5" name="Google Shape;205;g37432561ec5_1_2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6" name="Google Shape;206;g37432561ec5_1_28: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IN"/>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g37432561ec5_1_3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2" name="Google Shape;212;g37432561ec5_1_3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3" name="Google Shape;213;g37432561ec5_1_35: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IN"/>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374603a6cbf_0_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9" name="Google Shape;219;g374603a6cbf_0_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0" name="Google Shape;220;g374603a6cbf_0_11: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IN"/>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p1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6" name="Google Shape;226;p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p1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1" name="Google Shape;231;p1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p1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6" name="Google Shape;236;p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2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1" name="Google Shape;241;p2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p2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6" name="Google Shape;246;p2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p2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1" name="Google Shape;251;p2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g374603a6cbf_0_7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6" name="Google Shape;256;g374603a6cbf_0_7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g374603a6cbf_0_8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4" name="Google Shape;264;g374603a6cbf_0_8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5" name="Google Shape;265;g374603a6cbf_0_84: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IN"/>
              <a:t>29</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p1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3" name="Google Shape;273;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g374603a6cbf_0_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9" name="Google Shape;279;g374603a6cbf_0_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0" name="Google Shape;280;g374603a6cbf_0_6: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IN"/>
              <a:t>31</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p1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7" name="Google Shape;287;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g374603a6cbf_2_5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3" name="Google Shape;293;g374603a6cbf_2_5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4" name="Google Shape;294;g374603a6cbf_2_58: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IN"/>
              <a:t>33</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p:cNvGrpSpPr/>
        <p:nvPr/>
      </p:nvGrpSpPr>
      <p:grpSpPr>
        <a:xfrm>
          <a:off x="0" y="0"/>
          <a:ext cx="0" cy="0"/>
          <a:chOff x="0" y="0"/>
          <a:chExt cx="0" cy="0"/>
        </a:xfrm>
      </p:grpSpPr>
      <p:sp>
        <p:nvSpPr>
          <p:cNvPr id="299" name="Google Shape;299;p1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0" name="Google Shape;300;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374603a6cbf_2_6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6" name="Google Shape;306;g374603a6cbf_2_6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9"/>
        <p:cNvGrpSpPr/>
        <p:nvPr/>
      </p:nvGrpSpPr>
      <p:grpSpPr>
        <a:xfrm>
          <a:off x="0" y="0"/>
          <a:ext cx="0" cy="0"/>
          <a:chOff x="0" y="0"/>
          <a:chExt cx="0" cy="0"/>
        </a:xfrm>
      </p:grpSpPr>
      <p:sp>
        <p:nvSpPr>
          <p:cNvPr id="310" name="Google Shape;310;p2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1" name="Google Shape;311;p2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26"/>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26"/>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2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2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2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2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27"/>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2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2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2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7"/>
        <p:cNvGrpSpPr/>
        <p:nvPr/>
      </p:nvGrpSpPr>
      <p:grpSpPr>
        <a:xfrm>
          <a:off x="0" y="0"/>
          <a:ext cx="0" cy="0"/>
          <a:chOff x="0" y="0"/>
          <a:chExt cx="0" cy="0"/>
        </a:xfrm>
      </p:grpSpPr>
      <p:sp>
        <p:nvSpPr>
          <p:cNvPr id="28" name="Google Shape;28;p2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2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2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2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2"/>
        <p:cNvGrpSpPr/>
        <p:nvPr/>
      </p:nvGrpSpPr>
      <p:grpSpPr>
        <a:xfrm>
          <a:off x="0" y="0"/>
          <a:ext cx="0" cy="0"/>
          <a:chOff x="0" y="0"/>
          <a:chExt cx="0" cy="0"/>
        </a:xfrm>
      </p:grpSpPr>
      <p:sp>
        <p:nvSpPr>
          <p:cNvPr id="33" name="Google Shape;33;p2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6"/>
        <p:cNvGrpSpPr/>
        <p:nvPr/>
      </p:nvGrpSpPr>
      <p:grpSpPr>
        <a:xfrm>
          <a:off x="0" y="0"/>
          <a:ext cx="0" cy="0"/>
          <a:chOff x="0" y="0"/>
          <a:chExt cx="0" cy="0"/>
        </a:xfrm>
      </p:grpSpPr>
      <p:sp>
        <p:nvSpPr>
          <p:cNvPr id="37" name="Google Shape;37;p30"/>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30"/>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9" name="Google Shape;39;p3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 name="Google Shape;40;p3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3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2"/>
        <p:cNvGrpSpPr/>
        <p:nvPr/>
      </p:nvGrpSpPr>
      <p:grpSpPr>
        <a:xfrm>
          <a:off x="0" y="0"/>
          <a:ext cx="0" cy="0"/>
          <a:chOff x="0" y="0"/>
          <a:chExt cx="0" cy="0"/>
        </a:xfrm>
      </p:grpSpPr>
      <p:sp>
        <p:nvSpPr>
          <p:cNvPr id="43" name="Google Shape;43;p3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4" name="Google Shape;44;p31"/>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45" name="Google Shape;45;p31"/>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46" name="Google Shape;46;p3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3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3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9"/>
        <p:cNvGrpSpPr/>
        <p:nvPr/>
      </p:nvGrpSpPr>
      <p:grpSpPr>
        <a:xfrm>
          <a:off x="0" y="0"/>
          <a:ext cx="0" cy="0"/>
          <a:chOff x="0" y="0"/>
          <a:chExt cx="0" cy="0"/>
        </a:xfrm>
      </p:grpSpPr>
      <p:sp>
        <p:nvSpPr>
          <p:cNvPr id="50" name="Google Shape;50;p3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32"/>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52" name="Google Shape;52;p32"/>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53" name="Google Shape;53;p32"/>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54" name="Google Shape;54;p32"/>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55" name="Google Shape;55;p3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3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3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33"/>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33"/>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61" name="Google Shape;61;p33"/>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2" name="Google Shape;62;p3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3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3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34"/>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34"/>
          <p:cNvSpPr>
            <a:spLocks noGrp="1"/>
          </p:cNvSpPr>
          <p:nvPr>
            <p:ph type="pic" idx="2"/>
          </p:nvPr>
        </p:nvSpPr>
        <p:spPr>
          <a:xfrm>
            <a:off x="1792288" y="612775"/>
            <a:ext cx="5486400" cy="4114800"/>
          </a:xfrm>
          <a:prstGeom prst="rect">
            <a:avLst/>
          </a:prstGeom>
          <a:noFill/>
          <a:ln>
            <a:noFill/>
          </a:ln>
        </p:spPr>
      </p:sp>
      <p:sp>
        <p:nvSpPr>
          <p:cNvPr id="68" name="Google Shape;68;p34"/>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9" name="Google Shape;69;p3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3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3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3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35"/>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5" name="Google Shape;75;p3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3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3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36"/>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36"/>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1" name="Google Shape;81;p3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3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3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25"/>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2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2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2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8.xml"/><Relationship Id="rId1" Type="http://schemas.openxmlformats.org/officeDocument/2006/relationships/slideLayout" Target="../slideLayouts/slideLayout4.xml"/><Relationship Id="rId4" Type="http://schemas.openxmlformats.org/officeDocument/2006/relationships/image" Target="../media/image3.jpg"/></Relationships>
</file>

<file path=ppt/slides/_rels/slide29.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9.xml"/><Relationship Id="rId1" Type="http://schemas.openxmlformats.org/officeDocument/2006/relationships/slideLayout" Target="../slideLayouts/slideLayout4.xml"/><Relationship Id="rId5" Type="http://schemas.openxmlformats.org/officeDocument/2006/relationships/image" Target="../media/image6.jpg"/><Relationship Id="rId4" Type="http://schemas.openxmlformats.org/officeDocument/2006/relationships/image" Target="../media/image5.jp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2"/>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fontScale="70000" lnSpcReduction="20000"/>
          </a:bodyPr>
          <a:lstStyle/>
          <a:p>
            <a:pPr marL="0" lvl="0" indent="0" algn="ctr" rtl="0">
              <a:spcBef>
                <a:spcPts val="0"/>
              </a:spcBef>
              <a:spcAft>
                <a:spcPts val="0"/>
              </a:spcAft>
              <a:buClr>
                <a:schemeClr val="dk1"/>
              </a:buClr>
              <a:buSzPct val="100000"/>
              <a:buNone/>
            </a:pPr>
            <a:r>
              <a:rPr lang="en-IN" sz="4100" b="1">
                <a:latin typeface="Times New Roman"/>
                <a:ea typeface="Times New Roman"/>
                <a:cs typeface="Times New Roman"/>
                <a:sym typeface="Times New Roman"/>
              </a:rPr>
              <a:t>Project Title</a:t>
            </a:r>
            <a:endParaRPr/>
          </a:p>
          <a:p>
            <a:pPr marL="0" lvl="0" indent="0" algn="ctr" rtl="0">
              <a:spcBef>
                <a:spcPts val="558"/>
              </a:spcBef>
              <a:spcAft>
                <a:spcPts val="0"/>
              </a:spcAft>
              <a:buClr>
                <a:schemeClr val="dk1"/>
              </a:buClr>
              <a:buSzPct val="100000"/>
              <a:buNone/>
            </a:pPr>
            <a:endParaRPr sz="3600" b="1">
              <a:solidFill>
                <a:srgbClr val="FF0000"/>
              </a:solidFill>
            </a:endParaRPr>
          </a:p>
          <a:p>
            <a:pPr marL="0" lvl="0" indent="0" algn="ctr" rtl="0">
              <a:spcBef>
                <a:spcPts val="558"/>
              </a:spcBef>
              <a:spcAft>
                <a:spcPts val="0"/>
              </a:spcAft>
              <a:buClr>
                <a:srgbClr val="FF0000"/>
              </a:buClr>
              <a:buSzPct val="100000"/>
              <a:buNone/>
            </a:pPr>
            <a:r>
              <a:rPr lang="en-IN" sz="3600" b="1">
                <a:solidFill>
                  <a:srgbClr val="FF0000"/>
                </a:solidFill>
              </a:rPr>
              <a:t>SheShield: A Moral Tech Solution for Women’s Protection</a:t>
            </a:r>
            <a:endParaRPr sz="3600">
              <a:solidFill>
                <a:srgbClr val="FF0000"/>
              </a:solidFill>
            </a:endParaRPr>
          </a:p>
          <a:p>
            <a:pPr marL="0" lvl="0" indent="0" algn="l" rtl="0">
              <a:spcBef>
                <a:spcPts val="496"/>
              </a:spcBef>
              <a:spcAft>
                <a:spcPts val="0"/>
              </a:spcAft>
              <a:buClr>
                <a:schemeClr val="dk1"/>
              </a:buClr>
              <a:buSzPct val="100000"/>
              <a:buNone/>
            </a:pPr>
            <a:endParaRPr>
              <a:latin typeface="Times New Roman"/>
              <a:ea typeface="Times New Roman"/>
              <a:cs typeface="Times New Roman"/>
              <a:sym typeface="Times New Roman"/>
            </a:endParaRPr>
          </a:p>
          <a:p>
            <a:pPr marL="0" lvl="0" indent="0" algn="l" rtl="0">
              <a:spcBef>
                <a:spcPts val="496"/>
              </a:spcBef>
              <a:spcAft>
                <a:spcPts val="0"/>
              </a:spcAft>
              <a:buClr>
                <a:schemeClr val="dk1"/>
              </a:buClr>
              <a:buSzPct val="100000"/>
              <a:buNone/>
            </a:pPr>
            <a:r>
              <a:rPr lang="en-IN">
                <a:latin typeface="Times New Roman"/>
                <a:ea typeface="Times New Roman"/>
                <a:cs typeface="Times New Roman"/>
                <a:sym typeface="Times New Roman"/>
              </a:rPr>
              <a:t>Team Members :RAMYA M(2023PECCS341)</a:t>
            </a:r>
            <a:endParaRPr/>
          </a:p>
          <a:p>
            <a:pPr marL="0" lvl="0" indent="0" algn="l" rtl="0">
              <a:spcBef>
                <a:spcPts val="496"/>
              </a:spcBef>
              <a:spcAft>
                <a:spcPts val="0"/>
              </a:spcAft>
              <a:buClr>
                <a:schemeClr val="dk1"/>
              </a:buClr>
              <a:buSzPct val="100000"/>
              <a:buNone/>
            </a:pPr>
            <a:r>
              <a:rPr lang="en-IN">
                <a:latin typeface="Times New Roman"/>
                <a:ea typeface="Times New Roman"/>
                <a:cs typeface="Times New Roman"/>
                <a:sym typeface="Times New Roman"/>
              </a:rPr>
              <a:t>                           PAVITHRA E(2023PECCS305) </a:t>
            </a:r>
            <a:endParaRPr>
              <a:latin typeface="Times New Roman"/>
              <a:ea typeface="Times New Roman"/>
              <a:cs typeface="Times New Roman"/>
              <a:sym typeface="Times New Roman"/>
            </a:endParaRPr>
          </a:p>
          <a:p>
            <a:pPr marL="0" lvl="0" indent="0" algn="l" rtl="0">
              <a:spcBef>
                <a:spcPts val="496"/>
              </a:spcBef>
              <a:spcAft>
                <a:spcPts val="0"/>
              </a:spcAft>
              <a:buClr>
                <a:schemeClr val="dk1"/>
              </a:buClr>
              <a:buSzPct val="100000"/>
              <a:buNone/>
            </a:pPr>
            <a:r>
              <a:rPr lang="en-IN">
                <a:latin typeface="Times New Roman"/>
                <a:ea typeface="Times New Roman"/>
                <a:cs typeface="Times New Roman"/>
                <a:sym typeface="Times New Roman"/>
              </a:rPr>
              <a:t>Guide Name:Mr.Ramana R</a:t>
            </a:r>
            <a:endParaRPr>
              <a:latin typeface="Times New Roman"/>
              <a:ea typeface="Times New Roman"/>
              <a:cs typeface="Times New Roman"/>
              <a:sym typeface="Times New Roman"/>
            </a:endParaRPr>
          </a:p>
          <a:p>
            <a:pPr marL="0" lvl="0" indent="0" algn="l" rtl="0">
              <a:spcBef>
                <a:spcPts val="496"/>
              </a:spcBef>
              <a:spcAft>
                <a:spcPts val="0"/>
              </a:spcAft>
              <a:buClr>
                <a:schemeClr val="dk1"/>
              </a:buClr>
              <a:buSzPct val="100000"/>
              <a:buNone/>
            </a:pPr>
            <a:endParaRPr>
              <a:latin typeface="Times New Roman"/>
              <a:ea typeface="Times New Roman"/>
              <a:cs typeface="Times New Roman"/>
              <a:sym typeface="Times New Roman"/>
            </a:endParaRPr>
          </a:p>
          <a:p>
            <a:pPr marL="0" lvl="0" indent="0" algn="l" rtl="0">
              <a:spcBef>
                <a:spcPts val="496"/>
              </a:spcBef>
              <a:spcAft>
                <a:spcPts val="0"/>
              </a:spcAft>
              <a:buClr>
                <a:schemeClr val="dk1"/>
              </a:buClr>
              <a:buSzPct val="106666"/>
              <a:buNone/>
            </a:pPr>
            <a:r>
              <a:rPr lang="en-IN">
                <a:latin typeface="Times New Roman"/>
                <a:ea typeface="Times New Roman"/>
                <a:cs typeface="Times New Roman"/>
                <a:sym typeface="Times New Roman"/>
              </a:rPr>
              <a:t>Co-ordinator Name:</a:t>
            </a:r>
            <a:r>
              <a:rPr lang="en-IN" sz="3000">
                <a:latin typeface="Trebuchet MS"/>
                <a:ea typeface="Trebuchet MS"/>
                <a:cs typeface="Trebuchet MS"/>
                <a:sym typeface="Trebuchet MS"/>
              </a:rPr>
              <a:t>Mr.Elangovan C,</a:t>
            </a:r>
            <a:endParaRPr sz="3000">
              <a:latin typeface="Trebuchet MS"/>
              <a:ea typeface="Trebuchet MS"/>
              <a:cs typeface="Trebuchet MS"/>
              <a:sym typeface="Trebuchet MS"/>
            </a:endParaRPr>
          </a:p>
          <a:p>
            <a:pPr marL="0" lvl="0" indent="0" algn="l" rtl="0">
              <a:spcBef>
                <a:spcPts val="496"/>
              </a:spcBef>
              <a:spcAft>
                <a:spcPts val="0"/>
              </a:spcAft>
              <a:buClr>
                <a:schemeClr val="dk1"/>
              </a:buClr>
              <a:buSzPct val="106666"/>
              <a:buNone/>
            </a:pPr>
            <a:r>
              <a:rPr lang="en-IN" sz="3000">
                <a:latin typeface="Trebuchet MS"/>
                <a:ea typeface="Trebuchet MS"/>
                <a:cs typeface="Trebuchet MS"/>
                <a:sym typeface="Trebuchet MS"/>
              </a:rPr>
              <a:t>                            Mrs.JaichitraVasudevan I,</a:t>
            </a:r>
            <a:endParaRPr sz="3000">
              <a:latin typeface="Trebuchet MS"/>
              <a:ea typeface="Trebuchet MS"/>
              <a:cs typeface="Trebuchet MS"/>
              <a:sym typeface="Trebuchet MS"/>
            </a:endParaRPr>
          </a:p>
          <a:p>
            <a:pPr marL="0" lvl="0" indent="0" algn="l" rtl="0">
              <a:spcBef>
                <a:spcPts val="496"/>
              </a:spcBef>
              <a:spcAft>
                <a:spcPts val="0"/>
              </a:spcAft>
              <a:buClr>
                <a:schemeClr val="dk1"/>
              </a:buClr>
              <a:buSzPct val="106666"/>
              <a:buNone/>
            </a:pPr>
            <a:r>
              <a:rPr lang="en-IN" sz="3000">
                <a:latin typeface="Trebuchet MS"/>
                <a:ea typeface="Trebuchet MS"/>
                <a:cs typeface="Trebuchet MS"/>
                <a:sym typeface="Trebuchet MS"/>
              </a:rPr>
              <a:t>                            Mr.Ravindran U.</a:t>
            </a:r>
            <a:r>
              <a:rPr lang="en-IN">
                <a:latin typeface="Times New Roman"/>
                <a:ea typeface="Times New Roman"/>
                <a:cs typeface="Times New Roman"/>
                <a:sym typeface="Times New Roman"/>
              </a:rPr>
              <a:t> </a:t>
            </a:r>
            <a:endParaRPr/>
          </a:p>
          <a:p>
            <a:pPr marL="342900" lvl="0" indent="-185420" algn="l" rtl="0">
              <a:spcBef>
                <a:spcPts val="496"/>
              </a:spcBef>
              <a:spcAft>
                <a:spcPts val="0"/>
              </a:spcAft>
              <a:buClr>
                <a:schemeClr val="dk1"/>
              </a:buClr>
              <a:buSzPct val="100000"/>
              <a:buNone/>
            </a:pPr>
            <a:r>
              <a:rPr lang="en-IN">
                <a:latin typeface="Times New Roman"/>
                <a:ea typeface="Times New Roman"/>
                <a:cs typeface="Times New Roman"/>
                <a:sym typeface="Times New Roman"/>
              </a:rPr>
              <a:t>Batch No:12</a:t>
            </a:r>
            <a:endParaRPr>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chemeClr val="dk1"/>
              </a:buClr>
              <a:buSzPts val="3600"/>
              <a:buFont typeface="Calibri"/>
              <a:buNone/>
            </a:pPr>
            <a:r>
              <a:rPr lang="en-IN" sz="3600"/>
              <a:t>DOMAIN </a:t>
            </a:r>
            <a:r>
              <a:rPr lang="en-IN" sz="3600" b="1"/>
              <a:t>:</a:t>
            </a:r>
            <a:r>
              <a:rPr lang="en-IN" sz="3600"/>
              <a:t> Internet of Things (IoT) and Cloud Computing</a:t>
            </a:r>
            <a:endParaRPr sz="3600"/>
          </a:p>
        </p:txBody>
      </p:sp>
      <p:sp>
        <p:nvSpPr>
          <p:cNvPr id="94" name="Google Shape;94;p3"/>
          <p:cNvSpPr txBox="1"/>
          <p:nvPr/>
        </p:nvSpPr>
        <p:spPr>
          <a:xfrm>
            <a:off x="1259632" y="1988840"/>
            <a:ext cx="4932040" cy="150810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FFC000"/>
              </a:buClr>
              <a:buSzPts val="2000"/>
              <a:buFont typeface="Calibri"/>
              <a:buNone/>
            </a:pPr>
            <a:r>
              <a:rPr lang="en-IN" sz="2000" b="1" i="0" u="none" strike="noStrike" cap="none">
                <a:solidFill>
                  <a:srgbClr val="FFC000"/>
                </a:solidFill>
                <a:latin typeface="Calibri"/>
                <a:ea typeface="Calibri"/>
                <a:cs typeface="Calibri"/>
                <a:sym typeface="Calibri"/>
              </a:rPr>
              <a:t>SDG Goal:</a:t>
            </a:r>
            <a:endParaRPr sz="2000" b="0" i="0" u="none" strike="noStrike" cap="none">
              <a:solidFill>
                <a:srgbClr val="FFC000"/>
              </a:solidFill>
              <a:latin typeface="Calibri"/>
              <a:ea typeface="Calibri"/>
              <a:cs typeface="Calibri"/>
              <a:sym typeface="Calibri"/>
            </a:endParaRPr>
          </a:p>
          <a:p>
            <a:pPr marL="0" marR="0" lvl="0" indent="0" algn="l" rtl="0">
              <a:spcBef>
                <a:spcPts val="0"/>
              </a:spcBef>
              <a:spcAft>
                <a:spcPts val="0"/>
              </a:spcAft>
              <a:buNone/>
            </a:pPr>
            <a:r>
              <a:rPr lang="en-IN" sz="1800" b="1" i="0" u="none" strike="noStrike" cap="none">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IN" sz="1800" b="1">
                <a:solidFill>
                  <a:schemeClr val="dk1"/>
                </a:solidFill>
                <a:latin typeface="Calibri"/>
                <a:ea typeface="Calibri"/>
                <a:cs typeface="Calibri"/>
                <a:sym typeface="Calibri"/>
              </a:rPr>
              <a:t>           SDG 5 – Gender Equality</a:t>
            </a:r>
            <a:endParaRPr/>
          </a:p>
          <a:p>
            <a:pPr marL="0" marR="0" lvl="0" indent="0" algn="l" rtl="0">
              <a:spcBef>
                <a:spcPts val="0"/>
              </a:spcBef>
              <a:spcAft>
                <a:spcPts val="0"/>
              </a:spcAft>
              <a:buNone/>
            </a:pPr>
            <a:endParaRPr sz="1800" b="1">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5" name="Google Shape;95;p3"/>
          <p:cNvSpPr txBox="1"/>
          <p:nvPr/>
        </p:nvSpPr>
        <p:spPr>
          <a:xfrm>
            <a:off x="1259632" y="3212976"/>
            <a:ext cx="6912768" cy="209288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2000"/>
              <a:buFont typeface="Calibri"/>
              <a:buNone/>
            </a:pPr>
            <a:endParaRPr sz="2000" b="1">
              <a:solidFill>
                <a:srgbClr val="FFC000"/>
              </a:solidFill>
              <a:latin typeface="Calibri"/>
              <a:ea typeface="Calibri"/>
              <a:cs typeface="Calibri"/>
              <a:sym typeface="Calibri"/>
            </a:endParaRPr>
          </a:p>
          <a:p>
            <a:pPr marL="0" marR="0" lvl="0" indent="0" algn="l" rtl="0">
              <a:spcBef>
                <a:spcPts val="0"/>
              </a:spcBef>
              <a:spcAft>
                <a:spcPts val="0"/>
              </a:spcAft>
              <a:buClr>
                <a:srgbClr val="FFC000"/>
              </a:buClr>
              <a:buSzPts val="2000"/>
              <a:buFont typeface="Calibri"/>
              <a:buNone/>
            </a:pPr>
            <a:r>
              <a:rPr lang="en-IN" sz="2000" b="1">
                <a:solidFill>
                  <a:srgbClr val="FFC000"/>
                </a:solidFill>
                <a:latin typeface="Calibri"/>
                <a:ea typeface="Calibri"/>
                <a:cs typeface="Calibri"/>
                <a:sym typeface="Calibri"/>
              </a:rPr>
              <a:t>Relevant Target:</a:t>
            </a:r>
            <a:endParaRPr/>
          </a:p>
          <a:p>
            <a:pPr marL="0" marR="0" lvl="0" indent="0" algn="l" rtl="0">
              <a:spcBef>
                <a:spcPts val="0"/>
              </a:spcBef>
              <a:spcAft>
                <a:spcPts val="0"/>
              </a:spcAft>
              <a:buNone/>
            </a:pPr>
            <a:r>
              <a:rPr lang="en-IN" sz="1800" b="1">
                <a:solidFill>
                  <a:schemeClr val="dk1"/>
                </a:solidFill>
                <a:latin typeface="Calibri"/>
                <a:ea typeface="Calibri"/>
                <a:cs typeface="Calibri"/>
                <a:sym typeface="Calibri"/>
              </a:rPr>
              <a:t>           Target 5.2:</a:t>
            </a:r>
            <a:r>
              <a:rPr lang="en-IN" sz="1800">
                <a:solidFill>
                  <a:schemeClr val="dk1"/>
                </a:solidFill>
                <a:latin typeface="Calibri"/>
                <a:ea typeface="Calibri"/>
                <a:cs typeface="Calibri"/>
                <a:sym typeface="Calibri"/>
              </a:rPr>
              <a:t> </a:t>
            </a:r>
            <a:r>
              <a:rPr lang="en-IN" sz="1800" i="1">
                <a:solidFill>
                  <a:schemeClr val="dk1"/>
                </a:solidFill>
                <a:latin typeface="Calibri"/>
                <a:ea typeface="Calibri"/>
                <a:cs typeface="Calibri"/>
                <a:sym typeface="Calibri"/>
              </a:rPr>
              <a:t>Eliminate all forms of violence against all women and girls in the public and private spheres</a:t>
            </a:r>
            <a:endParaRPr/>
          </a:p>
          <a:p>
            <a:pPr marL="0" marR="0" lvl="0" indent="0" algn="l" rtl="0">
              <a:spcBef>
                <a:spcPts val="0"/>
              </a:spcBef>
              <a:spcAft>
                <a:spcPts val="0"/>
              </a:spcAft>
              <a:buNone/>
            </a:pPr>
            <a:r>
              <a:rPr lang="en-IN" sz="1800" i="1">
                <a:solidFill>
                  <a:schemeClr val="dk1"/>
                </a:solidFill>
                <a:latin typeface="Calibri"/>
                <a:ea typeface="Calibri"/>
                <a:cs typeface="Calibri"/>
                <a:sym typeface="Calibri"/>
              </a:rPr>
              <a:t>            </a:t>
            </a:r>
            <a:endParaRPr sz="1800" i="1">
              <a:solidFill>
                <a:schemeClr val="dk1"/>
              </a:solidFill>
              <a:latin typeface="Calibri"/>
              <a:ea typeface="Calibri"/>
              <a:cs typeface="Calibri"/>
              <a:sym typeface="Calibri"/>
            </a:endParaRPr>
          </a:p>
          <a:p>
            <a:pPr marL="0" marR="0" lvl="0" indent="0" algn="l" rtl="0">
              <a:spcBef>
                <a:spcPts val="0"/>
              </a:spcBef>
              <a:spcAft>
                <a:spcPts val="0"/>
              </a:spcAft>
              <a:buNone/>
            </a:pPr>
            <a:endParaRPr sz="1800" i="1">
              <a:solidFill>
                <a:schemeClr val="dk1"/>
              </a:solidFill>
              <a:latin typeface="Calibri"/>
              <a:ea typeface="Calibri"/>
              <a:cs typeface="Calibri"/>
              <a:sym typeface="Calibri"/>
            </a:endParaRPr>
          </a:p>
          <a:p>
            <a:pPr marL="0" marR="0" lvl="0" indent="0" algn="l" rtl="0">
              <a:spcBef>
                <a:spcPts val="0"/>
              </a:spcBef>
              <a:spcAft>
                <a:spcPts val="0"/>
              </a:spcAft>
              <a:buNone/>
            </a:pPr>
            <a:r>
              <a:rPr lang="en-IN" sz="1800">
                <a:solidFill>
                  <a:schemeClr val="dk1"/>
                </a:solidFill>
                <a:latin typeface="Calibri"/>
                <a:ea typeface="Calibri"/>
                <a:cs typeface="Calibri"/>
                <a:sym typeface="Calibri"/>
              </a:rPr>
              <a:t>             </a:t>
            </a:r>
            <a:endParaRPr/>
          </a:p>
        </p:txBody>
      </p:sp>
      <p:sp>
        <p:nvSpPr>
          <p:cNvPr id="96" name="Google Shape;96;p3"/>
          <p:cNvSpPr txBox="1"/>
          <p:nvPr/>
        </p:nvSpPr>
        <p:spPr>
          <a:xfrm>
            <a:off x="1835696" y="2826743"/>
            <a:ext cx="457200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1800" b="1">
                <a:solidFill>
                  <a:schemeClr val="dk1"/>
                </a:solidFill>
                <a:latin typeface="Calibri"/>
                <a:ea typeface="Calibri"/>
                <a:cs typeface="Calibri"/>
                <a:sym typeface="Calibri"/>
              </a:rPr>
              <a:t>SDG 11 – Sustainable Cities and Communities</a:t>
            </a:r>
            <a:endParaRPr sz="1800" b="1">
              <a:solidFill>
                <a:schemeClr val="dk1"/>
              </a:solidFill>
              <a:latin typeface="Calibri"/>
              <a:ea typeface="Calibri"/>
              <a:cs typeface="Calibri"/>
              <a:sym typeface="Calibri"/>
            </a:endParaRPr>
          </a:p>
        </p:txBody>
      </p:sp>
      <p:sp>
        <p:nvSpPr>
          <p:cNvPr id="97" name="Google Shape;97;p3"/>
          <p:cNvSpPr txBox="1"/>
          <p:nvPr/>
        </p:nvSpPr>
        <p:spPr>
          <a:xfrm>
            <a:off x="1259632" y="4529748"/>
            <a:ext cx="6696744"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1800" b="1">
                <a:solidFill>
                  <a:schemeClr val="dk1"/>
                </a:solidFill>
                <a:latin typeface="Calibri"/>
                <a:ea typeface="Calibri"/>
                <a:cs typeface="Calibri"/>
                <a:sym typeface="Calibri"/>
              </a:rPr>
              <a:t>           Target 11.7:</a:t>
            </a:r>
            <a:r>
              <a:rPr lang="en-IN" sz="1800">
                <a:solidFill>
                  <a:schemeClr val="dk1"/>
                </a:solidFill>
                <a:latin typeface="Calibri"/>
                <a:ea typeface="Calibri"/>
                <a:cs typeface="Calibri"/>
                <a:sym typeface="Calibri"/>
              </a:rPr>
              <a:t> </a:t>
            </a:r>
            <a:r>
              <a:rPr lang="en-IN" sz="1800" i="1">
                <a:solidFill>
                  <a:schemeClr val="dk1"/>
                </a:solidFill>
                <a:latin typeface="Calibri"/>
                <a:ea typeface="Calibri"/>
                <a:cs typeface="Calibri"/>
                <a:sym typeface="Calibri"/>
              </a:rPr>
              <a:t>Provide safe, inclusive and accessible public spaces,                              especially for women and children</a:t>
            </a:r>
            <a:endParaRPr sz="18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1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IN"/>
              <a:t> Base Paper</a:t>
            </a:r>
            <a:endParaRPr/>
          </a:p>
        </p:txBody>
      </p:sp>
      <p:sp>
        <p:nvSpPr>
          <p:cNvPr id="103" name="Google Shape;103;p10"/>
          <p:cNvSpPr txBox="1">
            <a:spLocks noGrp="1"/>
          </p:cNvSpPr>
          <p:nvPr>
            <p:ph type="body" idx="1"/>
          </p:nvPr>
        </p:nvSpPr>
        <p:spPr>
          <a:xfrm>
            <a:off x="755576" y="2361361"/>
            <a:ext cx="8229600" cy="4525963"/>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2400"/>
              <a:buNone/>
            </a:pPr>
            <a:r>
              <a:rPr lang="en-IN" sz="2400"/>
              <a:t>IoT-Based Women Safety Device Using Haversine Formula</a:t>
            </a:r>
            <a:endParaRPr/>
          </a:p>
          <a:p>
            <a:pPr marL="0" lvl="0" indent="0" algn="l" rtl="0">
              <a:spcBef>
                <a:spcPts val="480"/>
              </a:spcBef>
              <a:spcAft>
                <a:spcPts val="0"/>
              </a:spcAft>
              <a:buClr>
                <a:schemeClr val="dk1"/>
              </a:buClr>
              <a:buSzPts val="2400"/>
              <a:buNone/>
            </a:pPr>
            <a:r>
              <a:rPr lang="en-IN" sz="2400"/>
              <a:t>Md Abu Talha; Mehedi Hasan; Mohammad Abdul Mannan; Shameem Ahmad; Md Rifat Hazari; Md Shahriar Parvez; Tamim Hossain; Sanjid Islam2025 4th International Conference on Robotics, Electrical and Signal Processing Techniques (ICREST)Year: 2025 |Conference Paper |Publisher:IEEE</a:t>
            </a:r>
            <a:endParaRPr sz="24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g37432561ec5_0_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3600"/>
              <a:buFont typeface="Calibri"/>
              <a:buNone/>
            </a:pPr>
            <a:r>
              <a:rPr lang="en-IN" sz="4000"/>
              <a:t>                          ABSTRACT</a:t>
            </a:r>
            <a:endParaRPr sz="4000"/>
          </a:p>
        </p:txBody>
      </p:sp>
      <p:sp>
        <p:nvSpPr>
          <p:cNvPr id="109" name="Google Shape;109;g37432561ec5_0_1"/>
          <p:cNvSpPr txBox="1"/>
          <p:nvPr/>
        </p:nvSpPr>
        <p:spPr>
          <a:xfrm>
            <a:off x="192450" y="2036150"/>
            <a:ext cx="8834100" cy="3140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FFC000"/>
              </a:buClr>
              <a:buSzPts val="2000"/>
              <a:buFont typeface="Calibri"/>
              <a:buNone/>
            </a:pPr>
            <a:r>
              <a:rPr lang="en-IN" sz="2000">
                <a:solidFill>
                  <a:schemeClr val="dk1"/>
                </a:solidFill>
                <a:latin typeface="Calibri"/>
                <a:ea typeface="Calibri"/>
                <a:cs typeface="Calibri"/>
                <a:sym typeface="Calibri"/>
              </a:rPr>
              <a:t>SheShield is a women’s safety Android application designed to provide rapid assistance in emergencies through features such as SOS alerts, real-time GPS location sharing, and audio/video evidence recording. It ensures reliability even in areas with poor or no internet connectivity via SMS-based notifications. Developed using Android SDK, Firebase, and native device APIs, the app allows users to predefine trusted contacts who receive instant alerts with precise location data upon SOS activation. With its intuitive interface, offline capability, and integrated safety tools, SheShield offers a proactive, accessible, and technology-driven solution for enhancing women’s personal security.</a:t>
            </a:r>
            <a:endParaRPr sz="2000">
              <a:solidFill>
                <a:schemeClr val="dk1"/>
              </a:solidFill>
              <a:latin typeface="Calibri"/>
              <a:ea typeface="Calibri"/>
              <a:cs typeface="Calibri"/>
              <a:sym typeface="Calibri"/>
            </a:endParaRPr>
          </a:p>
          <a:p>
            <a:pPr marL="0" marR="0" lvl="0" indent="0" algn="l" rtl="0">
              <a:spcBef>
                <a:spcPts val="0"/>
              </a:spcBef>
              <a:spcAft>
                <a:spcPts val="0"/>
              </a:spcAft>
              <a:buClr>
                <a:srgbClr val="FFC000"/>
              </a:buClr>
              <a:buSzPts val="2000"/>
              <a:buFont typeface="Calibri"/>
              <a:buNone/>
            </a:pPr>
            <a:endParaRPr sz="1800">
              <a:solidFill>
                <a:schemeClr val="dk1"/>
              </a:solidFill>
              <a:latin typeface="Calibri"/>
              <a:ea typeface="Calibri"/>
              <a:cs typeface="Calibri"/>
              <a:sym typeface="Calibri"/>
            </a:endParaRPr>
          </a:p>
        </p:txBody>
      </p:sp>
      <p:sp>
        <p:nvSpPr>
          <p:cNvPr id="110" name="Google Shape;110;g37432561ec5_0_1"/>
          <p:cNvSpPr txBox="1"/>
          <p:nvPr/>
        </p:nvSpPr>
        <p:spPr>
          <a:xfrm>
            <a:off x="-6720443" y="3765126"/>
            <a:ext cx="6912900" cy="14469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2000"/>
              <a:buFont typeface="Calibri"/>
              <a:buNone/>
            </a:pPr>
            <a:endParaRPr sz="2000" b="1">
              <a:solidFill>
                <a:srgbClr val="FFC000"/>
              </a:solidFill>
              <a:latin typeface="Calibri"/>
              <a:ea typeface="Calibri"/>
              <a:cs typeface="Calibri"/>
              <a:sym typeface="Calibri"/>
            </a:endParaRPr>
          </a:p>
          <a:p>
            <a:pPr marL="0" marR="0" lvl="0" indent="0" algn="l" rtl="0">
              <a:spcBef>
                <a:spcPts val="0"/>
              </a:spcBef>
              <a:spcAft>
                <a:spcPts val="0"/>
              </a:spcAft>
              <a:buNone/>
            </a:pPr>
            <a:endParaRPr/>
          </a:p>
          <a:p>
            <a:pPr marL="0" marR="0" lvl="0" indent="0" algn="l" rtl="0">
              <a:spcBef>
                <a:spcPts val="0"/>
              </a:spcBef>
              <a:spcAft>
                <a:spcPts val="0"/>
              </a:spcAft>
              <a:buNone/>
            </a:pPr>
            <a:r>
              <a:rPr lang="en-IN" sz="1800" i="1">
                <a:solidFill>
                  <a:schemeClr val="dk1"/>
                </a:solidFill>
                <a:latin typeface="Calibri"/>
                <a:ea typeface="Calibri"/>
                <a:cs typeface="Calibri"/>
                <a:sym typeface="Calibri"/>
              </a:rPr>
              <a:t>            </a:t>
            </a:r>
            <a:endParaRPr sz="1800" i="1">
              <a:solidFill>
                <a:schemeClr val="dk1"/>
              </a:solidFill>
              <a:latin typeface="Calibri"/>
              <a:ea typeface="Calibri"/>
              <a:cs typeface="Calibri"/>
              <a:sym typeface="Calibri"/>
            </a:endParaRPr>
          </a:p>
          <a:p>
            <a:pPr marL="0" marR="0" lvl="0" indent="0" algn="l" rtl="0">
              <a:spcBef>
                <a:spcPts val="0"/>
              </a:spcBef>
              <a:spcAft>
                <a:spcPts val="0"/>
              </a:spcAft>
              <a:buNone/>
            </a:pPr>
            <a:endParaRPr sz="1800" i="1">
              <a:solidFill>
                <a:schemeClr val="dk1"/>
              </a:solidFill>
              <a:latin typeface="Calibri"/>
              <a:ea typeface="Calibri"/>
              <a:cs typeface="Calibri"/>
              <a:sym typeface="Calibri"/>
            </a:endParaRPr>
          </a:p>
          <a:p>
            <a:pPr marL="0" marR="0" lvl="0" indent="0" algn="l" rtl="0">
              <a:spcBef>
                <a:spcPts val="0"/>
              </a:spcBef>
              <a:spcAft>
                <a:spcPts val="0"/>
              </a:spcAft>
              <a:buNone/>
            </a:pPr>
            <a:r>
              <a:rPr lang="en-IN" sz="1800">
                <a:solidFill>
                  <a:schemeClr val="dk1"/>
                </a:solidFill>
                <a:latin typeface="Calibri"/>
                <a:ea typeface="Calibri"/>
                <a:cs typeface="Calibri"/>
                <a:sym typeface="Calibri"/>
              </a:rPr>
              <a:t>             </a:t>
            </a:r>
            <a:endParaRPr/>
          </a:p>
        </p:txBody>
      </p:sp>
      <p:sp>
        <p:nvSpPr>
          <p:cNvPr id="111" name="Google Shape;111;g37432561ec5_0_1"/>
          <p:cNvSpPr txBox="1"/>
          <p:nvPr/>
        </p:nvSpPr>
        <p:spPr>
          <a:xfrm>
            <a:off x="-176429" y="3282943"/>
            <a:ext cx="4572000" cy="36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b="1">
              <a:solidFill>
                <a:schemeClr val="dk1"/>
              </a:solidFill>
              <a:latin typeface="Calibri"/>
              <a:ea typeface="Calibri"/>
              <a:cs typeface="Calibri"/>
              <a:sym typeface="Calibri"/>
            </a:endParaRPr>
          </a:p>
        </p:txBody>
      </p:sp>
      <p:sp>
        <p:nvSpPr>
          <p:cNvPr id="112" name="Google Shape;112;g37432561ec5_0_1"/>
          <p:cNvSpPr txBox="1"/>
          <p:nvPr/>
        </p:nvSpPr>
        <p:spPr>
          <a:xfrm>
            <a:off x="1377007" y="3499073"/>
            <a:ext cx="6696600" cy="4617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g37432561ec5_0_24"/>
          <p:cNvSpPr txBox="1"/>
          <p:nvPr/>
        </p:nvSpPr>
        <p:spPr>
          <a:xfrm>
            <a:off x="-77225" y="0"/>
            <a:ext cx="9009900" cy="7388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IN" sz="3400"/>
              <a:t>                   Social Relevance</a:t>
            </a:r>
            <a:endParaRPr sz="3400"/>
          </a:p>
          <a:p>
            <a:pPr marL="0" lvl="0" indent="0" algn="l" rtl="0">
              <a:spcBef>
                <a:spcPts val="0"/>
              </a:spcBef>
              <a:spcAft>
                <a:spcPts val="0"/>
              </a:spcAft>
              <a:buNone/>
            </a:pPr>
            <a:r>
              <a:rPr lang="en-IN" sz="2800"/>
              <a:t>Benefits to Society:</a:t>
            </a:r>
            <a:endParaRPr sz="2800"/>
          </a:p>
          <a:p>
            <a:pPr marL="0" lvl="0" indent="0" algn="l" rtl="0">
              <a:spcBef>
                <a:spcPts val="0"/>
              </a:spcBef>
              <a:spcAft>
                <a:spcPts val="0"/>
              </a:spcAft>
              <a:buNone/>
            </a:pPr>
            <a:r>
              <a:rPr lang="en-IN" sz="2800"/>
              <a:t>                   </a:t>
            </a:r>
            <a:r>
              <a:rPr lang="en-IN" sz="2000"/>
              <a:t>SheShield is designed to tackle one of the most urgent issues today – women’s safety. It provides a quick, dependable way to get help in emergencies through real-time location sharing, instant alerts, and audio/video evidence recording. This not only helps women feel more secure but also reduces the time it takes for help to arrive. The app encourages safe mobility, builds public awareness, and promotes the use of technology for social protection.</a:t>
            </a:r>
            <a:endParaRPr sz="2000"/>
          </a:p>
          <a:p>
            <a:pPr marL="0" lvl="0" indent="0" algn="l" rtl="0">
              <a:spcBef>
                <a:spcPts val="0"/>
              </a:spcBef>
              <a:spcAft>
                <a:spcPts val="0"/>
              </a:spcAft>
              <a:buNone/>
            </a:pPr>
            <a:endParaRPr sz="2000"/>
          </a:p>
          <a:p>
            <a:pPr marL="0" lvl="0" indent="0" algn="l" rtl="0">
              <a:spcBef>
                <a:spcPts val="0"/>
              </a:spcBef>
              <a:spcAft>
                <a:spcPts val="0"/>
              </a:spcAft>
              <a:buNone/>
            </a:pPr>
            <a:r>
              <a:rPr lang="en-IN" sz="2800"/>
              <a:t>L</a:t>
            </a:r>
            <a:r>
              <a:rPr lang="en-IN" sz="2600"/>
              <a:t>ink to UN Sustainable Development Goals (SDGs):</a:t>
            </a:r>
            <a:endParaRPr sz="2600"/>
          </a:p>
          <a:p>
            <a:pPr marL="0" lvl="0" indent="0" algn="l" rtl="0">
              <a:spcBef>
                <a:spcPts val="0"/>
              </a:spcBef>
              <a:spcAft>
                <a:spcPts val="0"/>
              </a:spcAft>
              <a:buNone/>
            </a:pPr>
            <a:r>
              <a:rPr lang="en-IN" sz="2600"/>
              <a:t>The project supports several UN SDG</a:t>
            </a:r>
            <a:r>
              <a:rPr lang="en-IN" sz="2800"/>
              <a:t>s:</a:t>
            </a:r>
            <a:endParaRPr sz="2800"/>
          </a:p>
          <a:p>
            <a:pPr marL="0" lvl="0" indent="0" algn="l" rtl="0">
              <a:spcBef>
                <a:spcPts val="0"/>
              </a:spcBef>
              <a:spcAft>
                <a:spcPts val="0"/>
              </a:spcAft>
              <a:buNone/>
            </a:pPr>
            <a:endParaRPr sz="2000"/>
          </a:p>
          <a:p>
            <a:pPr marL="0" lvl="0" indent="0" algn="l" rtl="0">
              <a:spcBef>
                <a:spcPts val="0"/>
              </a:spcBef>
              <a:spcAft>
                <a:spcPts val="0"/>
              </a:spcAft>
              <a:buNone/>
            </a:pPr>
            <a:r>
              <a:rPr lang="en-IN" sz="2000"/>
              <a:t> SDG 5-gender equality:Empowering womens safety</a:t>
            </a:r>
            <a:endParaRPr sz="2000">
              <a:solidFill>
                <a:schemeClr val="dk1"/>
              </a:solidFill>
            </a:endParaRPr>
          </a:p>
          <a:p>
            <a:pPr marL="0" lvl="0" indent="0" algn="l" rtl="0">
              <a:spcBef>
                <a:spcPts val="0"/>
              </a:spcBef>
              <a:spcAft>
                <a:spcPts val="0"/>
              </a:spcAft>
              <a:buNone/>
            </a:pPr>
            <a:endParaRPr sz="2000">
              <a:solidFill>
                <a:schemeClr val="dk1"/>
              </a:solidFill>
            </a:endParaRPr>
          </a:p>
          <a:p>
            <a:pPr marL="0" lvl="0" indent="0" algn="l" rtl="0">
              <a:spcBef>
                <a:spcPts val="0"/>
              </a:spcBef>
              <a:spcAft>
                <a:spcPts val="0"/>
              </a:spcAft>
              <a:buNone/>
            </a:pPr>
            <a:r>
              <a:rPr lang="en-IN" sz="2000">
                <a:solidFill>
                  <a:schemeClr val="dk1"/>
                </a:solidFill>
              </a:rPr>
              <a:t>SDG 11 – Sustainable Cities &amp; Communities: Helps make cities safer and more inclusive.</a:t>
            </a:r>
            <a:endParaRPr sz="2000">
              <a:solidFill>
                <a:schemeClr val="dk1"/>
              </a:solidFill>
            </a:endParaRPr>
          </a:p>
          <a:p>
            <a:pPr marL="0" lvl="0" indent="0" algn="l" rtl="0">
              <a:spcBef>
                <a:spcPts val="0"/>
              </a:spcBef>
              <a:spcAft>
                <a:spcPts val="0"/>
              </a:spcAft>
              <a:buNone/>
            </a:pPr>
            <a:endParaRPr sz="2000">
              <a:solidFill>
                <a:schemeClr val="dk1"/>
              </a:solidFill>
            </a:endParaRPr>
          </a:p>
          <a:p>
            <a:pPr marL="0" lvl="0" indent="0" algn="l" rtl="0">
              <a:spcBef>
                <a:spcPts val="0"/>
              </a:spcBef>
              <a:spcAft>
                <a:spcPts val="0"/>
              </a:spcAft>
              <a:buNone/>
            </a:pPr>
            <a:endParaRPr sz="2000">
              <a:solidFill>
                <a:schemeClr val="dk1"/>
              </a:solidFill>
            </a:endParaRPr>
          </a:p>
          <a:p>
            <a:pPr marL="0" lvl="0" indent="0" algn="l" rtl="0">
              <a:spcBef>
                <a:spcPts val="0"/>
              </a:spcBef>
              <a:spcAft>
                <a:spcPts val="0"/>
              </a:spcAft>
              <a:buNone/>
            </a:pPr>
            <a:endParaRPr>
              <a:solidFill>
                <a:schemeClr val="dk1"/>
              </a:solidFill>
            </a:endParaRPr>
          </a:p>
          <a:p>
            <a:pPr marL="0" lvl="0" indent="0" algn="l" rtl="0">
              <a:spcBef>
                <a:spcPts val="0"/>
              </a:spcBef>
              <a:spcAft>
                <a:spcPts val="0"/>
              </a:spcAft>
              <a:buNone/>
            </a:pPr>
            <a:endParaRPr/>
          </a:p>
          <a:p>
            <a:pPr marL="0" lvl="0" indent="0" algn="l" rtl="0">
              <a:spcBef>
                <a:spcPts val="0"/>
              </a:spcBef>
              <a:spcAft>
                <a:spcPts val="0"/>
              </a:spcAft>
              <a:buNone/>
            </a:pP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g37432561ec5_1_11"/>
          <p:cNvSpPr txBox="1">
            <a:spLocks noGrp="1"/>
          </p:cNvSpPr>
          <p:nvPr>
            <p:ph type="title"/>
          </p:nvPr>
        </p:nvSpPr>
        <p:spPr>
          <a:xfrm>
            <a:off x="457200" y="274638"/>
            <a:ext cx="8229600" cy="1143000"/>
          </a:xfrm>
          <a:prstGeom prst="rect">
            <a:avLst/>
          </a:prstGeom>
        </p:spPr>
        <p:txBody>
          <a:bodyPr spcFirstLastPara="1" wrap="square" lIns="91425" tIns="45700" rIns="91425" bIns="45700" anchor="ctr" anchorCtr="0">
            <a:normAutofit/>
          </a:bodyPr>
          <a:lstStyle/>
          <a:p>
            <a:pPr marL="0" lvl="0" indent="0" algn="ctr" rtl="0">
              <a:spcBef>
                <a:spcPts val="0"/>
              </a:spcBef>
              <a:spcAft>
                <a:spcPts val="0"/>
              </a:spcAft>
              <a:buNone/>
            </a:pPr>
            <a:r>
              <a:rPr lang="en-IN"/>
              <a:t>INTRODUCTION</a:t>
            </a:r>
            <a:endParaRPr/>
          </a:p>
        </p:txBody>
      </p:sp>
      <p:sp>
        <p:nvSpPr>
          <p:cNvPr id="125" name="Google Shape;125;g37432561ec5_1_11"/>
          <p:cNvSpPr txBox="1">
            <a:spLocks noGrp="1"/>
          </p:cNvSpPr>
          <p:nvPr>
            <p:ph type="body" idx="1"/>
          </p:nvPr>
        </p:nvSpPr>
        <p:spPr>
          <a:xfrm>
            <a:off x="457200" y="1600200"/>
            <a:ext cx="8229600" cy="4526100"/>
          </a:xfrm>
          <a:prstGeom prst="rect">
            <a:avLst/>
          </a:prstGeom>
        </p:spPr>
        <p:txBody>
          <a:bodyPr spcFirstLastPara="1" wrap="square" lIns="91425" tIns="45700" rIns="91425" bIns="45700" anchor="t" anchorCtr="0">
            <a:normAutofit fontScale="55000" lnSpcReduction="10000"/>
          </a:bodyPr>
          <a:lstStyle/>
          <a:p>
            <a:pPr marL="0" lvl="0" indent="0" algn="l" rtl="0">
              <a:spcBef>
                <a:spcPts val="360"/>
              </a:spcBef>
              <a:spcAft>
                <a:spcPts val="0"/>
              </a:spcAft>
              <a:buNone/>
            </a:pPr>
            <a:r>
              <a:rPr lang="en-IN" sz="4700"/>
              <a:t>Background Study:</a:t>
            </a:r>
            <a:endParaRPr sz="4700"/>
          </a:p>
          <a:p>
            <a:pPr marL="0" lvl="0" indent="0" algn="l" rtl="0">
              <a:spcBef>
                <a:spcPts val="360"/>
              </a:spcBef>
              <a:spcAft>
                <a:spcPts val="0"/>
              </a:spcAft>
              <a:buNone/>
            </a:pPr>
            <a:r>
              <a:rPr lang="en-IN" sz="3750"/>
              <a:t>                               Women’s safety has been a serious concern for many years, and the rise in incidents such as harassment, assault, and other crimes has made it a pressing issue. While measures like helplines, police patrols, and community awareness programs exist, they often fail to provide help at the exact moment it is needed. With the growth of smartphones, GPS, and IoT technologies, we now have the chance to build smarter, faster, and more reliable safety systems. These technologies make it possible to send instant alerts, share real-time locations, and even record evidence during emergencies — all from a single mobile app.</a:t>
            </a:r>
            <a:endParaRPr sz="3750"/>
          </a:p>
          <a:p>
            <a:pPr marL="0" lvl="0" indent="0" algn="l" rtl="0">
              <a:spcBef>
                <a:spcPts val="360"/>
              </a:spcBef>
              <a:spcAft>
                <a:spcPts val="0"/>
              </a:spcAft>
              <a:buNone/>
            </a:pPr>
            <a:endParaRPr sz="5000"/>
          </a:p>
          <a:p>
            <a:pPr marL="0" lvl="0" indent="0" algn="l" rtl="0">
              <a:spcBef>
                <a:spcPts val="360"/>
              </a:spcBef>
              <a:spcAft>
                <a:spcPts val="0"/>
              </a:spcAft>
              <a:buNone/>
            </a:pPr>
            <a:endParaRPr sz="4500"/>
          </a:p>
          <a:p>
            <a:pPr marL="0" lvl="0" indent="0" algn="l" rtl="0">
              <a:spcBef>
                <a:spcPts val="360"/>
              </a:spcBef>
              <a:spcAft>
                <a:spcPts val="0"/>
              </a:spcAft>
              <a:buClr>
                <a:schemeClr val="dk1"/>
              </a:buClr>
              <a:buSzPct val="34375"/>
              <a:buFont typeface="Arial"/>
              <a:buNone/>
            </a:pPr>
            <a:endParaRPr/>
          </a:p>
          <a:p>
            <a:pPr marL="0" lvl="0" indent="0" algn="l" rtl="0">
              <a:spcBef>
                <a:spcPts val="360"/>
              </a:spcBef>
              <a:spcAft>
                <a:spcPts val="0"/>
              </a:spcAft>
              <a:buNone/>
            </a:pP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g37432561ec5_1_22"/>
          <p:cNvSpPr txBox="1">
            <a:spLocks noGrp="1"/>
          </p:cNvSpPr>
          <p:nvPr>
            <p:ph type="title"/>
          </p:nvPr>
        </p:nvSpPr>
        <p:spPr>
          <a:xfrm>
            <a:off x="457200" y="274638"/>
            <a:ext cx="8229600" cy="1143000"/>
          </a:xfrm>
          <a:prstGeom prst="rect">
            <a:avLst/>
          </a:prstGeom>
        </p:spPr>
        <p:txBody>
          <a:bodyPr spcFirstLastPara="1" wrap="square" lIns="91425" tIns="45700" rIns="91425" bIns="45700" anchor="ctr" anchorCtr="0">
            <a:normAutofit fontScale="90000"/>
          </a:bodyPr>
          <a:lstStyle/>
          <a:p>
            <a:pPr marL="0" lvl="0" indent="0" algn="ctr" rtl="0">
              <a:spcBef>
                <a:spcPts val="0"/>
              </a:spcBef>
              <a:spcAft>
                <a:spcPts val="0"/>
              </a:spcAft>
              <a:buNone/>
            </a:pPr>
            <a:endParaRPr/>
          </a:p>
          <a:p>
            <a:pPr marL="0" lvl="0" indent="0" algn="ctr" rtl="0">
              <a:spcBef>
                <a:spcPts val="0"/>
              </a:spcBef>
              <a:spcAft>
                <a:spcPts val="0"/>
              </a:spcAft>
              <a:buNone/>
            </a:pPr>
            <a:endParaRPr/>
          </a:p>
          <a:p>
            <a:pPr marL="0" lvl="0" indent="0" algn="ctr" rtl="0">
              <a:spcBef>
                <a:spcPts val="0"/>
              </a:spcBef>
              <a:spcAft>
                <a:spcPts val="0"/>
              </a:spcAft>
              <a:buNone/>
            </a:pPr>
            <a:endParaRPr/>
          </a:p>
          <a:p>
            <a:pPr marL="0" lvl="0" indent="0" algn="ctr" rtl="0">
              <a:spcBef>
                <a:spcPts val="0"/>
              </a:spcBef>
              <a:spcAft>
                <a:spcPts val="0"/>
              </a:spcAft>
              <a:buNone/>
            </a:pPr>
            <a:endParaRPr/>
          </a:p>
        </p:txBody>
      </p:sp>
      <p:sp>
        <p:nvSpPr>
          <p:cNvPr id="132" name="Google Shape;132;g37432561ec5_1_22"/>
          <p:cNvSpPr txBox="1">
            <a:spLocks noGrp="1"/>
          </p:cNvSpPr>
          <p:nvPr>
            <p:ph type="body" idx="1"/>
          </p:nvPr>
        </p:nvSpPr>
        <p:spPr>
          <a:xfrm>
            <a:off x="457200" y="1600200"/>
            <a:ext cx="8229600" cy="4526100"/>
          </a:xfrm>
          <a:prstGeom prst="rect">
            <a:avLst/>
          </a:prstGeom>
        </p:spPr>
        <p:txBody>
          <a:bodyPr spcFirstLastPara="1" wrap="square" lIns="91425" tIns="45700" rIns="91425" bIns="45700" anchor="t" anchorCtr="0">
            <a:normAutofit/>
          </a:bodyPr>
          <a:lstStyle/>
          <a:p>
            <a:pPr marL="0" lvl="0" indent="0" algn="l" rtl="0">
              <a:spcBef>
                <a:spcPts val="0"/>
              </a:spcBef>
              <a:spcAft>
                <a:spcPts val="0"/>
              </a:spcAft>
              <a:buNone/>
            </a:pPr>
            <a:r>
              <a:rPr lang="en-IN" sz="2700">
                <a:latin typeface="Arial"/>
                <a:ea typeface="Arial"/>
                <a:cs typeface="Arial"/>
                <a:sym typeface="Arial"/>
              </a:rPr>
              <a:t>Motivation for the Project:</a:t>
            </a:r>
            <a:endParaRPr sz="2700">
              <a:latin typeface="Arial"/>
              <a:ea typeface="Arial"/>
              <a:cs typeface="Arial"/>
              <a:sym typeface="Arial"/>
            </a:endParaRPr>
          </a:p>
          <a:p>
            <a:pPr marL="0" lvl="0" indent="0" algn="l" rtl="0">
              <a:spcBef>
                <a:spcPts val="0"/>
              </a:spcBef>
              <a:spcAft>
                <a:spcPts val="0"/>
              </a:spcAft>
              <a:buClr>
                <a:schemeClr val="dk1"/>
              </a:buClr>
              <a:buSzPts val="1100"/>
              <a:buFont typeface="Arial"/>
              <a:buNone/>
            </a:pPr>
            <a:r>
              <a:rPr lang="en-IN" sz="2700">
                <a:latin typeface="Arial"/>
                <a:ea typeface="Arial"/>
                <a:cs typeface="Arial"/>
                <a:sym typeface="Arial"/>
              </a:rPr>
              <a:t>                                 </a:t>
            </a:r>
            <a:r>
              <a:rPr lang="en-IN" sz="2000">
                <a:latin typeface="Arial"/>
                <a:ea typeface="Arial"/>
                <a:cs typeface="Arial"/>
                <a:sym typeface="Arial"/>
              </a:rPr>
              <a:t>The idea for SheShield came from the need to give women a safety tool they can trust anytime, anywhere. Many existing safety apps work only with internet access or have complicated features, making them difficult to use in emergencies. SheShield is designed to solve these problems by providing SOS alerts, live GPS location sharing, and offline SMS notifications in one simple and user-friendly application. Our motivation is to use technology not just for convenience, but to help create a society where women feel safe, confident, and empowered to move freely without fear.</a:t>
            </a:r>
            <a:endParaRPr sz="2000">
              <a:latin typeface="Arial"/>
              <a:ea typeface="Arial"/>
              <a:cs typeface="Arial"/>
              <a:sym typeface="Arial"/>
            </a:endParaRPr>
          </a:p>
          <a:p>
            <a:pPr marL="0" lvl="0" indent="0" algn="l" rtl="0">
              <a:spcBef>
                <a:spcPts val="360"/>
              </a:spcBef>
              <a:spcAft>
                <a:spcPts val="0"/>
              </a:spcAft>
              <a:buNone/>
            </a:pPr>
            <a:endParaRPr sz="20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1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IN"/>
              <a:t>LITERATURE SURVEY</a:t>
            </a:r>
            <a:endParaRPr/>
          </a:p>
        </p:txBody>
      </p:sp>
      <p:sp>
        <p:nvSpPr>
          <p:cNvPr id="138" name="Google Shape;138;p15"/>
          <p:cNvSpPr txBox="1"/>
          <p:nvPr/>
        </p:nvSpPr>
        <p:spPr>
          <a:xfrm>
            <a:off x="144500" y="1417650"/>
            <a:ext cx="9054600" cy="5587500"/>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Clr>
                <a:schemeClr val="dk1"/>
              </a:buClr>
              <a:buSzPts val="1100"/>
              <a:buFont typeface="Arial"/>
              <a:buNone/>
            </a:pPr>
            <a:r>
              <a:rPr lang="en-IN" sz="1700" b="1"/>
              <a:t>1. G. Uganya, N. Kirubakaran, Besnatin T., M. Boobalan — Smart Women Safety Device using IoT and GPS Tracker (ICREST / IEEE, 2023)</a:t>
            </a:r>
            <a:endParaRPr sz="1700" b="1"/>
          </a:p>
          <a:p>
            <a:pPr marL="0" lvl="0" indent="0" algn="l" rtl="0">
              <a:spcBef>
                <a:spcPts val="0"/>
              </a:spcBef>
              <a:spcAft>
                <a:spcPts val="0"/>
              </a:spcAft>
              <a:buClr>
                <a:schemeClr val="dk1"/>
              </a:buClr>
              <a:buSzPts val="1100"/>
              <a:buFont typeface="Arial"/>
              <a:buNone/>
            </a:pPr>
            <a:endParaRPr sz="1700"/>
          </a:p>
          <a:p>
            <a:pPr marL="0" lvl="0" indent="0" algn="l" rtl="0">
              <a:spcBef>
                <a:spcPts val="0"/>
              </a:spcBef>
              <a:spcAft>
                <a:spcPts val="0"/>
              </a:spcAft>
              <a:buClr>
                <a:schemeClr val="dk1"/>
              </a:buClr>
              <a:buSzPts val="1100"/>
              <a:buFont typeface="Arial"/>
              <a:buNone/>
            </a:pPr>
            <a:r>
              <a:rPr lang="en-IN" sz="1700"/>
              <a:t>Summary / Contribution: Presents a compact IoT-based safety device that uses GPS and GSM modules to locate and alert guardians via SMS. The work demonstrates a wearable/portable approach to personal safety with basic geo-tracking and alerting features.</a:t>
            </a:r>
            <a:endParaRPr sz="1700"/>
          </a:p>
          <a:p>
            <a:pPr marL="0" lvl="0" indent="0" algn="l" rtl="0">
              <a:spcBef>
                <a:spcPts val="0"/>
              </a:spcBef>
              <a:spcAft>
                <a:spcPts val="0"/>
              </a:spcAft>
              <a:buClr>
                <a:schemeClr val="dk1"/>
              </a:buClr>
              <a:buSzPts val="1100"/>
              <a:buFont typeface="Arial"/>
              <a:buNone/>
            </a:pPr>
            <a:r>
              <a:rPr lang="en-IN" sz="1700"/>
              <a:t>Limitations: Focuses on hardware alerts and lacks integrated multimedia evidence capture, advanced location analytics, or smartphone-side UI/UX.</a:t>
            </a:r>
            <a:endParaRPr sz="1700"/>
          </a:p>
          <a:p>
            <a:pPr marL="0" lvl="0" indent="0" algn="l" rtl="0">
              <a:spcBef>
                <a:spcPts val="0"/>
              </a:spcBef>
              <a:spcAft>
                <a:spcPts val="0"/>
              </a:spcAft>
              <a:buClr>
                <a:schemeClr val="dk1"/>
              </a:buClr>
              <a:buSzPts val="1100"/>
              <a:buFont typeface="Arial"/>
              <a:buNone/>
            </a:pPr>
            <a:r>
              <a:rPr lang="en-IN" sz="1700"/>
              <a:t>Relation to SheShield: Inspires SheShield’s offline SMS fallback and IoT-aware thinking; SheShield extends this idea by integrating smartphone media capture, cloud sync, and safe-route features.</a:t>
            </a:r>
            <a:endParaRPr sz="1700"/>
          </a:p>
          <a:p>
            <a:pPr marL="0" lvl="0" indent="0" algn="l" rtl="0">
              <a:spcBef>
                <a:spcPts val="0"/>
              </a:spcBef>
              <a:spcAft>
                <a:spcPts val="0"/>
              </a:spcAft>
              <a:buClr>
                <a:schemeClr val="dk1"/>
              </a:buClr>
              <a:buSzPts val="1100"/>
              <a:buFont typeface="Arial"/>
              <a:buNone/>
            </a:pPr>
            <a:endParaRPr sz="1700"/>
          </a:p>
          <a:p>
            <a:pPr marL="0" lvl="0" indent="0" algn="l" rtl="0">
              <a:spcBef>
                <a:spcPts val="0"/>
              </a:spcBef>
              <a:spcAft>
                <a:spcPts val="0"/>
              </a:spcAft>
              <a:buNone/>
            </a:pPr>
            <a:r>
              <a:rPr lang="en-IN" sz="1700" b="1"/>
              <a:t>2. Yogesh C., Vatchala S. — Empowering Women’s Safety: An Innovative Smart Security System (ICRTAC / IEEE, 2023)</a:t>
            </a:r>
            <a:endParaRPr sz="1700" b="1"/>
          </a:p>
          <a:p>
            <a:pPr marL="0" lvl="0" indent="0" algn="l" rtl="0">
              <a:spcBef>
                <a:spcPts val="0"/>
              </a:spcBef>
              <a:spcAft>
                <a:spcPts val="0"/>
              </a:spcAft>
              <a:buNone/>
            </a:pPr>
            <a:endParaRPr sz="1700"/>
          </a:p>
          <a:p>
            <a:pPr marL="0" lvl="0" indent="0" algn="l" rtl="0">
              <a:spcBef>
                <a:spcPts val="0"/>
              </a:spcBef>
              <a:spcAft>
                <a:spcPts val="0"/>
              </a:spcAft>
              <a:buClr>
                <a:schemeClr val="dk1"/>
              </a:buClr>
              <a:buSzPts val="1100"/>
              <a:buFont typeface="Arial"/>
              <a:buNone/>
            </a:pPr>
            <a:r>
              <a:rPr lang="en-IN" sz="1700"/>
              <a:t>Summary / Contribution: Describes a holistic safety system combining mobile alerts, location sharing, and simple analytics to support rapid response. Emphasizes usability and low-cost deployment.</a:t>
            </a:r>
            <a:endParaRPr sz="1700"/>
          </a:p>
          <a:p>
            <a:pPr marL="0" lvl="0" indent="0" algn="l" rtl="0">
              <a:spcBef>
                <a:spcPts val="0"/>
              </a:spcBef>
              <a:spcAft>
                <a:spcPts val="0"/>
              </a:spcAft>
              <a:buClr>
                <a:schemeClr val="dk1"/>
              </a:buClr>
              <a:buSzPts val="1100"/>
              <a:buFont typeface="Arial"/>
              <a:buNone/>
            </a:pPr>
            <a:r>
              <a:rPr lang="en-IN" sz="1700"/>
              <a:t>Limitations: May not deeply address offline reliability or evidence handling, nor propose prevention (danger-zone) features.</a:t>
            </a:r>
            <a:endParaRPr sz="1700"/>
          </a:p>
          <a:p>
            <a:pPr marL="0" lvl="0" indent="0" algn="l" rtl="0">
              <a:spcBef>
                <a:spcPts val="0"/>
              </a:spcBef>
              <a:spcAft>
                <a:spcPts val="0"/>
              </a:spcAft>
              <a:buClr>
                <a:schemeClr val="dk1"/>
              </a:buClr>
              <a:buSzPts val="1100"/>
              <a:buFont typeface="Arial"/>
              <a:buNone/>
            </a:pPr>
            <a:endParaRPr sz="1700"/>
          </a:p>
        </p:txBody>
      </p:sp>
      <p:sp>
        <p:nvSpPr>
          <p:cNvPr id="139" name="Google Shape;139;p15"/>
          <p:cNvSpPr txBox="1"/>
          <p:nvPr/>
        </p:nvSpPr>
        <p:spPr>
          <a:xfrm>
            <a:off x="819349" y="2505656"/>
            <a:ext cx="7704900" cy="369300"/>
          </a:xfrm>
          <a:prstGeom prst="rect">
            <a:avLst/>
          </a:prstGeom>
          <a:noFill/>
          <a:ln>
            <a:noFill/>
          </a:ln>
        </p:spPr>
        <p:txBody>
          <a:bodyPr spcFirstLastPara="1" wrap="square" lIns="91425" tIns="45700" rIns="91425" bIns="45700" anchor="t" anchorCtr="0">
            <a:spAutoFit/>
          </a:bodyPr>
          <a:lstStyle/>
          <a:p>
            <a:pPr marL="0" marR="0" lvl="0" indent="-114300" algn="l" rtl="0">
              <a:spcBef>
                <a:spcPts val="0"/>
              </a:spcBef>
              <a:spcAft>
                <a:spcPts val="0"/>
              </a:spcAft>
              <a:buClr>
                <a:schemeClr val="dk1"/>
              </a:buClr>
              <a:buSzPts val="1800"/>
              <a:buFont typeface="Arial"/>
              <a:buChar char="•"/>
            </a:pPr>
            <a:r>
              <a:rPr lang="en-IN" sz="1800">
                <a:solidFill>
                  <a:schemeClr val="dk1"/>
                </a:solidFill>
                <a:latin typeface="Calibri"/>
                <a:ea typeface="Calibri"/>
                <a:cs typeface="Calibri"/>
                <a:sym typeface="Calibri"/>
              </a:rPr>
              <a:t>.</a:t>
            </a:r>
            <a:endParaRPr/>
          </a:p>
        </p:txBody>
      </p:sp>
      <p:sp>
        <p:nvSpPr>
          <p:cNvPr id="140" name="Google Shape;140;p15"/>
          <p:cNvSpPr txBox="1"/>
          <p:nvPr/>
        </p:nvSpPr>
        <p:spPr>
          <a:xfrm>
            <a:off x="-631575" y="614825"/>
            <a:ext cx="91551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32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16"/>
          <p:cNvSpPr txBox="1"/>
          <p:nvPr/>
        </p:nvSpPr>
        <p:spPr>
          <a:xfrm>
            <a:off x="539552" y="2492896"/>
            <a:ext cx="7272900" cy="36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800"/>
              <a:buFont typeface="Calibri"/>
              <a:buNone/>
            </a:pPr>
            <a:r>
              <a:rPr lang="en-IN" sz="1800" b="1">
                <a:solidFill>
                  <a:schemeClr val="dk1"/>
                </a:solidFill>
                <a:latin typeface="Calibri"/>
                <a:ea typeface="Calibri"/>
                <a:cs typeface="Calibri"/>
                <a:sym typeface="Calibri"/>
              </a:rPr>
              <a:t>🔹 </a:t>
            </a:r>
            <a:r>
              <a:rPr lang="en-IN" sz="1800">
                <a:solidFill>
                  <a:schemeClr val="dk1"/>
                </a:solidFill>
                <a:latin typeface="Calibri"/>
                <a:ea typeface="Calibri"/>
                <a:cs typeface="Calibri"/>
                <a:sym typeface="Calibri"/>
              </a:rPr>
              <a:t>.</a:t>
            </a:r>
            <a:endParaRPr/>
          </a:p>
        </p:txBody>
      </p:sp>
      <p:sp>
        <p:nvSpPr>
          <p:cNvPr id="146" name="Google Shape;146;p16"/>
          <p:cNvSpPr txBox="1"/>
          <p:nvPr/>
        </p:nvSpPr>
        <p:spPr>
          <a:xfrm>
            <a:off x="103350" y="363275"/>
            <a:ext cx="8937300" cy="5418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1100"/>
              <a:buFont typeface="Arial"/>
              <a:buNone/>
            </a:pPr>
            <a:r>
              <a:rPr lang="en-IN" sz="1700" b="1">
                <a:solidFill>
                  <a:schemeClr val="dk1"/>
                </a:solidFill>
                <a:latin typeface="Calibri"/>
                <a:ea typeface="Calibri"/>
                <a:cs typeface="Calibri"/>
                <a:sym typeface="Calibri"/>
              </a:rPr>
              <a:t>3. Mani Gupta, Rashmi Ashtt, Monali Wankar, Ajay Monga — Speech Recognition Applications in Enhancing Safety for Women in Built Environment (OSDA / IEEE, 2023)</a:t>
            </a:r>
            <a:endParaRPr sz="1700" b="1">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7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IN" sz="1700">
                <a:solidFill>
                  <a:schemeClr val="dk1"/>
                </a:solidFill>
                <a:latin typeface="Calibri"/>
                <a:ea typeface="Calibri"/>
                <a:cs typeface="Calibri"/>
                <a:sym typeface="Calibri"/>
              </a:rPr>
              <a:t>Summary / Contribution: Investigates speech-recognition approaches for safety—keyword detection, on-device vs. cloud recognition—and use-cases where voice triggers improve accessibility.</a:t>
            </a:r>
            <a:endParaRPr sz="17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IN" sz="1700">
                <a:solidFill>
                  <a:schemeClr val="dk1"/>
                </a:solidFill>
                <a:latin typeface="Calibri"/>
                <a:ea typeface="Calibri"/>
                <a:cs typeface="Calibri"/>
                <a:sym typeface="Calibri"/>
              </a:rPr>
              <a:t>Limitations:Speech models can suffer from false triggers and may need language/local accent adaptation; cloud solutions depend on connectivity.</a:t>
            </a:r>
            <a:endParaRPr sz="17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IN" sz="1700">
                <a:solidFill>
                  <a:schemeClr val="dk1"/>
                </a:solidFill>
                <a:latin typeface="Calibri"/>
                <a:ea typeface="Calibri"/>
                <a:cs typeface="Calibri"/>
                <a:sym typeface="Calibri"/>
              </a:rPr>
              <a:t>Relation to SheShield: Informs SheShield’s voice-trigger module design choices (on-device recognition for offline resilience, sensitivity tuning to reduce false positives).</a:t>
            </a:r>
            <a:endParaRPr sz="17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7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IN" sz="1700" b="1">
                <a:solidFill>
                  <a:schemeClr val="dk1"/>
                </a:solidFill>
                <a:latin typeface="Calibri"/>
                <a:ea typeface="Calibri"/>
                <a:cs typeface="Calibri"/>
                <a:sym typeface="Calibri"/>
              </a:rPr>
              <a:t> 4. Md Abu Talha et al. — IoT-Based Women Safety Device Using Haversine Formula (IREST / IEEE, 2025)</a:t>
            </a:r>
            <a:endParaRPr sz="1700" b="1">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IN" sz="1700">
                <a:solidFill>
                  <a:schemeClr val="dk1"/>
                </a:solidFill>
                <a:latin typeface="Calibri"/>
                <a:ea typeface="Calibri"/>
                <a:cs typeface="Calibri"/>
                <a:sym typeface="Calibri"/>
              </a:rPr>
              <a:t>Summary / Contribution: Uses geospatial computation (Haversine) for distance checks and alerts, showing how proximity to known risk points can be detected reliably on resource-constrained devices.</a:t>
            </a:r>
            <a:endParaRPr sz="17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IN" sz="1700">
                <a:solidFill>
                  <a:schemeClr val="dk1"/>
                </a:solidFill>
                <a:latin typeface="Calibri"/>
                <a:ea typeface="Calibri"/>
                <a:cs typeface="Calibri"/>
                <a:sym typeface="Calibri"/>
              </a:rPr>
              <a:t>Limitations: Focuses on geolocation math; may not address media capture, user experience, or messaging fallback.</a:t>
            </a:r>
            <a:endParaRPr sz="1700">
              <a:solidFill>
                <a:schemeClr val="dk1"/>
              </a:solidFill>
              <a:latin typeface="Calibri"/>
              <a:ea typeface="Calibri"/>
              <a:cs typeface="Calibri"/>
              <a:sym typeface="Calibri"/>
            </a:endParaRPr>
          </a:p>
          <a:p>
            <a:pPr marL="0" lvl="0" indent="0" algn="l" rtl="0">
              <a:spcBef>
                <a:spcPts val="0"/>
              </a:spcBef>
              <a:spcAft>
                <a:spcPts val="0"/>
              </a:spcAft>
              <a:buNone/>
            </a:pPr>
            <a:r>
              <a:rPr lang="en-IN" sz="1700">
                <a:solidFill>
                  <a:schemeClr val="dk1"/>
                </a:solidFill>
                <a:latin typeface="Calibri"/>
                <a:ea typeface="Calibri"/>
                <a:cs typeface="Calibri"/>
                <a:sym typeface="Calibri"/>
              </a:rPr>
              <a:t>Relation to SheShield: Directly relevant for SheShield’s danger-zone detection and safe-route algorithm (distance calculation + geofencing logic)</a:t>
            </a:r>
            <a:endParaRPr sz="170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g374603a6cbf_2_2"/>
          <p:cNvSpPr txBox="1"/>
          <p:nvPr/>
        </p:nvSpPr>
        <p:spPr>
          <a:xfrm>
            <a:off x="539552" y="2492896"/>
            <a:ext cx="7272900" cy="36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800"/>
              <a:buFont typeface="Calibri"/>
              <a:buNone/>
            </a:pPr>
            <a:r>
              <a:rPr lang="en-IN" sz="1800" b="1">
                <a:solidFill>
                  <a:schemeClr val="dk1"/>
                </a:solidFill>
                <a:latin typeface="Calibri"/>
                <a:ea typeface="Calibri"/>
                <a:cs typeface="Calibri"/>
                <a:sym typeface="Calibri"/>
              </a:rPr>
              <a:t>🔹 </a:t>
            </a:r>
            <a:r>
              <a:rPr lang="en-IN" sz="1800">
                <a:solidFill>
                  <a:schemeClr val="dk1"/>
                </a:solidFill>
                <a:latin typeface="Calibri"/>
                <a:ea typeface="Calibri"/>
                <a:cs typeface="Calibri"/>
                <a:sym typeface="Calibri"/>
              </a:rPr>
              <a:t>.</a:t>
            </a:r>
            <a:endParaRPr/>
          </a:p>
        </p:txBody>
      </p:sp>
      <p:sp>
        <p:nvSpPr>
          <p:cNvPr id="152" name="Google Shape;152;g374603a6cbf_2_2"/>
          <p:cNvSpPr txBox="1"/>
          <p:nvPr/>
        </p:nvSpPr>
        <p:spPr>
          <a:xfrm>
            <a:off x="106200" y="306475"/>
            <a:ext cx="9048900" cy="6264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1100"/>
              <a:buFont typeface="Arial"/>
              <a:buNone/>
            </a:pPr>
            <a:r>
              <a:rPr lang="en-IN" sz="1800" b="1">
                <a:solidFill>
                  <a:schemeClr val="dk1"/>
                </a:solidFill>
                <a:latin typeface="Calibri"/>
                <a:ea typeface="Calibri"/>
                <a:cs typeface="Calibri"/>
                <a:sym typeface="Calibri"/>
              </a:rPr>
              <a:t>5. T. Sen, A. Dutta, S. Singh, V. Naveen Kumar — ProTecht – Implementation of an IoT based 3-Way Women Safety Device (ICECA / IEEE, 2024)</a:t>
            </a:r>
            <a:endParaRPr sz="1800" b="1">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8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IN" sz="1800">
                <a:solidFill>
                  <a:schemeClr val="dk1"/>
                </a:solidFill>
                <a:latin typeface="Calibri"/>
                <a:ea typeface="Calibri"/>
                <a:cs typeface="Calibri"/>
                <a:sym typeface="Calibri"/>
              </a:rPr>
              <a:t>Summary / Contribution: Demonstrates a hardware solution with three redundancy channels (SMS, voice call, app alert), improving chances of notification under varying network conditions.</a:t>
            </a:r>
            <a:endParaRPr sz="18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IN" sz="1800">
                <a:solidFill>
                  <a:schemeClr val="dk1"/>
                </a:solidFill>
                <a:latin typeface="Calibri"/>
                <a:ea typeface="Calibri"/>
                <a:cs typeface="Calibri"/>
                <a:sym typeface="Calibri"/>
              </a:rPr>
              <a:t>Limitations:Hardware-first approach may lack rich smartphone features (video/audio capture, map-based rerouting) and cloud integration.</a:t>
            </a:r>
            <a:endParaRPr sz="18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IN" sz="1800">
                <a:solidFill>
                  <a:schemeClr val="dk1"/>
                </a:solidFill>
                <a:latin typeface="Calibri"/>
                <a:ea typeface="Calibri"/>
                <a:cs typeface="Calibri"/>
                <a:sym typeface="Calibri"/>
              </a:rPr>
              <a:t>Relation to SheShield:</a:t>
            </a:r>
            <a:endParaRPr sz="18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IN" sz="1800">
                <a:solidFill>
                  <a:schemeClr val="dk1"/>
                </a:solidFill>
                <a:latin typeface="Calibri"/>
                <a:ea typeface="Calibri"/>
                <a:cs typeface="Calibri"/>
                <a:sym typeface="Calibri"/>
              </a:rPr>
              <a:t>Motivates SheShield’s emphasis on multi-channel alerting and robust fallback (SMS + cloud notifications) while adding richer evidence collection.</a:t>
            </a:r>
            <a:endParaRPr sz="18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8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IN" sz="1800" b="1">
                <a:solidFill>
                  <a:schemeClr val="dk1"/>
                </a:solidFill>
                <a:latin typeface="Calibri"/>
                <a:ea typeface="Calibri"/>
                <a:cs typeface="Calibri"/>
                <a:sym typeface="Calibri"/>
              </a:rPr>
              <a:t>6. Athira K., Sriharsha R., Rajkumar N. — Women’s Safety in Cities Using Android (SAS / IEEE, 2023)</a:t>
            </a:r>
            <a:endParaRPr sz="1800" b="1">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8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IN" sz="1800">
                <a:solidFill>
                  <a:schemeClr val="dk1"/>
                </a:solidFill>
                <a:latin typeface="Calibri"/>
                <a:ea typeface="Calibri"/>
                <a:cs typeface="Calibri"/>
                <a:sym typeface="Calibri"/>
              </a:rPr>
              <a:t>Summary / Contribution: Describes an Android app prototype for urban safety: location sharing, SOS messages, and UI considerations for ease-of-use in city contexts.</a:t>
            </a:r>
            <a:endParaRPr sz="18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IN" sz="1800">
                <a:solidFill>
                  <a:schemeClr val="dk1"/>
                </a:solidFill>
                <a:latin typeface="Calibri"/>
                <a:ea typeface="Calibri"/>
                <a:cs typeface="Calibri"/>
                <a:sym typeface="Calibri"/>
              </a:rPr>
              <a:t>Limitations:Primarily urban-focused; may not handle poor-network, multimedia evidence, or prevention features.</a:t>
            </a:r>
            <a:endParaRPr sz="18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IN" sz="1800">
                <a:solidFill>
                  <a:schemeClr val="dk1"/>
                </a:solidFill>
                <a:latin typeface="Calibri"/>
                <a:ea typeface="Calibri"/>
                <a:cs typeface="Calibri"/>
                <a:sym typeface="Calibri"/>
              </a:rPr>
              <a:t>Relation to SheShield:Validates the mobile-app approach and UI simplicity—SheShield extends to offline operation and evidence capture for broader applicability.</a:t>
            </a:r>
            <a:endParaRPr sz="1800">
              <a:solidFill>
                <a:schemeClr val="dk1"/>
              </a:solidFill>
              <a:latin typeface="Calibri"/>
              <a:ea typeface="Calibri"/>
              <a:cs typeface="Calibri"/>
              <a:sym typeface="Calibri"/>
            </a:endParaRPr>
          </a:p>
          <a:p>
            <a:pPr marL="0" lvl="0" indent="0" algn="l" rtl="0">
              <a:spcBef>
                <a:spcPts val="0"/>
              </a:spcBef>
              <a:spcAft>
                <a:spcPts val="0"/>
              </a:spcAft>
              <a:buNone/>
            </a:pPr>
            <a:endParaRPr sz="170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g374603a6cbf_2_22"/>
          <p:cNvSpPr txBox="1"/>
          <p:nvPr/>
        </p:nvSpPr>
        <p:spPr>
          <a:xfrm>
            <a:off x="539552" y="2492896"/>
            <a:ext cx="7272900" cy="36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800"/>
              <a:buFont typeface="Calibri"/>
              <a:buNone/>
            </a:pPr>
            <a:r>
              <a:rPr lang="en-IN" sz="1800" b="1">
                <a:solidFill>
                  <a:schemeClr val="dk1"/>
                </a:solidFill>
                <a:latin typeface="Calibri"/>
                <a:ea typeface="Calibri"/>
                <a:cs typeface="Calibri"/>
                <a:sym typeface="Calibri"/>
              </a:rPr>
              <a:t>🔹 </a:t>
            </a:r>
            <a:r>
              <a:rPr lang="en-IN" sz="1800">
                <a:solidFill>
                  <a:schemeClr val="dk1"/>
                </a:solidFill>
                <a:latin typeface="Calibri"/>
                <a:ea typeface="Calibri"/>
                <a:cs typeface="Calibri"/>
                <a:sym typeface="Calibri"/>
              </a:rPr>
              <a:t>.</a:t>
            </a:r>
            <a:endParaRPr/>
          </a:p>
        </p:txBody>
      </p:sp>
      <p:sp>
        <p:nvSpPr>
          <p:cNvPr id="158" name="Google Shape;158;g374603a6cbf_2_22"/>
          <p:cNvSpPr txBox="1"/>
          <p:nvPr/>
        </p:nvSpPr>
        <p:spPr>
          <a:xfrm>
            <a:off x="0" y="0"/>
            <a:ext cx="9144000" cy="6203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700" b="1">
              <a:solidFill>
                <a:schemeClr val="dk1"/>
              </a:solidFill>
              <a:latin typeface="Calibri"/>
              <a:ea typeface="Calibri"/>
              <a:cs typeface="Calibri"/>
              <a:sym typeface="Calibri"/>
            </a:endParaRPr>
          </a:p>
          <a:p>
            <a:pPr marL="0" lvl="0" indent="0" algn="l" rtl="0">
              <a:spcBef>
                <a:spcPts val="0"/>
              </a:spcBef>
              <a:spcAft>
                <a:spcPts val="0"/>
              </a:spcAft>
              <a:buNone/>
            </a:pPr>
            <a:endParaRPr sz="1700" b="1">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IN" sz="1700" b="1">
                <a:solidFill>
                  <a:schemeClr val="dk1"/>
                </a:solidFill>
                <a:latin typeface="Calibri"/>
                <a:ea typeface="Calibri"/>
                <a:cs typeface="Calibri"/>
                <a:sym typeface="Calibri"/>
              </a:rPr>
              <a:t>7. S. Saxena, R. S. Rajpurohit, A. K. Yadav — IoT-Based Women Safety Gadgets (WSG): Vision, Architecture, and Design Trends (Computers, Materials &amp; Continua, 2023)</a:t>
            </a:r>
            <a:endParaRPr sz="1700" b="1">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7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IN" sz="1700">
                <a:solidFill>
                  <a:schemeClr val="dk1"/>
                </a:solidFill>
                <a:latin typeface="Calibri"/>
                <a:ea typeface="Calibri"/>
                <a:cs typeface="Calibri"/>
                <a:sym typeface="Calibri"/>
              </a:rPr>
              <a:t>Summary / Contribution: A review-style paper summarizing IoT safety gadget architectures, common sensors, connectivity options, and design trade-offs. Useful for understanding ecosystem trends.</a:t>
            </a:r>
            <a:endParaRPr sz="17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IN" sz="1700">
                <a:solidFill>
                  <a:schemeClr val="dk1"/>
                </a:solidFill>
                <a:latin typeface="Calibri"/>
                <a:ea typeface="Calibri"/>
                <a:cs typeface="Calibri"/>
                <a:sym typeface="Calibri"/>
              </a:rPr>
              <a:t>Limitations:Survey rather than a single-system evaluation; highlights gaps without full implementation details.</a:t>
            </a:r>
            <a:endParaRPr sz="17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IN" sz="1700">
                <a:solidFill>
                  <a:schemeClr val="dk1"/>
                </a:solidFill>
                <a:latin typeface="Calibri"/>
                <a:ea typeface="Calibri"/>
                <a:cs typeface="Calibri"/>
                <a:sym typeface="Calibri"/>
              </a:rPr>
              <a:t>Relation to SheShield: Helps justify design choices (sensor selection, offline fallback), and positions SheShield within current device+app hybrid trends.</a:t>
            </a:r>
            <a:endParaRPr sz="17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7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IN" sz="1700" b="1">
                <a:solidFill>
                  <a:schemeClr val="dk1"/>
                </a:solidFill>
                <a:latin typeface="Calibri"/>
                <a:ea typeface="Calibri"/>
                <a:cs typeface="Calibri"/>
                <a:sym typeface="Calibri"/>
              </a:rPr>
              <a:t>8. M. Parameswaran, N. Dayal, V. Sandhiya, Sneha K. — *I-SWSS: IoT Enabled Smart Women Safety System(ICCCI / IEEE, 2024)</a:t>
            </a:r>
            <a:endParaRPr sz="1700" b="1">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7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IN" sz="1700">
                <a:solidFill>
                  <a:schemeClr val="dk1"/>
                </a:solidFill>
                <a:latin typeface="Calibri"/>
                <a:ea typeface="Calibri"/>
                <a:cs typeface="Calibri"/>
                <a:sym typeface="Calibri"/>
              </a:rPr>
              <a:t>Summary / Contribution: Presents an IoT-enabled framework tying sensors (GPS, GSM) to cloud alerts; includes real-time tracking and caregiver notification features.</a:t>
            </a:r>
            <a:endParaRPr sz="17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IN" sz="1700">
                <a:solidFill>
                  <a:schemeClr val="dk1"/>
                </a:solidFill>
                <a:latin typeface="Calibri"/>
                <a:ea typeface="Calibri"/>
                <a:cs typeface="Calibri"/>
                <a:sym typeface="Calibri"/>
              </a:rPr>
              <a:t>Limitations:Focus may be infrastructure-heavy; potential gaps in media/evidence capture and UX polishing.</a:t>
            </a:r>
            <a:endParaRPr sz="1700">
              <a:solidFill>
                <a:schemeClr val="dk1"/>
              </a:solidFill>
              <a:latin typeface="Calibri"/>
              <a:ea typeface="Calibri"/>
              <a:cs typeface="Calibri"/>
              <a:sym typeface="Calibri"/>
            </a:endParaRPr>
          </a:p>
          <a:p>
            <a:pPr marL="0" lvl="0" indent="0" algn="l" rtl="0">
              <a:spcBef>
                <a:spcPts val="0"/>
              </a:spcBef>
              <a:spcAft>
                <a:spcPts val="0"/>
              </a:spcAft>
              <a:buNone/>
            </a:pPr>
            <a:r>
              <a:rPr lang="en-IN" sz="1700">
                <a:solidFill>
                  <a:schemeClr val="dk1"/>
                </a:solidFill>
                <a:latin typeface="Calibri"/>
                <a:ea typeface="Calibri"/>
                <a:cs typeface="Calibri"/>
                <a:sym typeface="Calibri"/>
              </a:rPr>
              <a:t>Relation to SheShield: Reinforces importance of cloud backend and caregiver notification flows; SheShield improves by unifying media capture and offline SMS fallback.</a:t>
            </a:r>
            <a:endParaRPr sz="1700">
              <a:solidFill>
                <a:schemeClr val="dk1"/>
              </a:solidFill>
              <a:latin typeface="Calibri"/>
              <a:ea typeface="Calibri"/>
              <a:cs typeface="Calibri"/>
              <a:sym typeface="Calibri"/>
            </a:endParaRPr>
          </a:p>
          <a:p>
            <a:pPr marL="0" lvl="0" indent="0" algn="l" rtl="0">
              <a:spcBef>
                <a:spcPts val="0"/>
              </a:spcBef>
              <a:spcAft>
                <a:spcPts val="0"/>
              </a:spcAft>
              <a:buNone/>
            </a:pPr>
            <a:endParaRPr sz="17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7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g374603a6cbf_2_6"/>
          <p:cNvSpPr txBox="1"/>
          <p:nvPr/>
        </p:nvSpPr>
        <p:spPr>
          <a:xfrm>
            <a:off x="539552" y="2492896"/>
            <a:ext cx="7272900" cy="36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800"/>
              <a:buFont typeface="Calibri"/>
              <a:buNone/>
            </a:pPr>
            <a:r>
              <a:rPr lang="en-IN" sz="1800" b="1">
                <a:solidFill>
                  <a:schemeClr val="dk1"/>
                </a:solidFill>
                <a:latin typeface="Calibri"/>
                <a:ea typeface="Calibri"/>
                <a:cs typeface="Calibri"/>
                <a:sym typeface="Calibri"/>
              </a:rPr>
              <a:t>🔹 </a:t>
            </a:r>
            <a:r>
              <a:rPr lang="en-IN" sz="1800">
                <a:solidFill>
                  <a:schemeClr val="dk1"/>
                </a:solidFill>
                <a:latin typeface="Calibri"/>
                <a:ea typeface="Calibri"/>
                <a:cs typeface="Calibri"/>
                <a:sym typeface="Calibri"/>
              </a:rPr>
              <a:t>.</a:t>
            </a:r>
            <a:endParaRPr/>
          </a:p>
        </p:txBody>
      </p:sp>
      <p:sp>
        <p:nvSpPr>
          <p:cNvPr id="164" name="Google Shape;164;g374603a6cbf_2_6"/>
          <p:cNvSpPr txBox="1"/>
          <p:nvPr/>
        </p:nvSpPr>
        <p:spPr>
          <a:xfrm>
            <a:off x="89425" y="95025"/>
            <a:ext cx="9065700" cy="6464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700" b="1">
              <a:solidFill>
                <a:schemeClr val="dk1"/>
              </a:solidFill>
              <a:latin typeface="Calibri"/>
              <a:ea typeface="Calibri"/>
              <a:cs typeface="Calibri"/>
              <a:sym typeface="Calibri"/>
            </a:endParaRPr>
          </a:p>
          <a:p>
            <a:pPr marL="0" lvl="0" indent="0" algn="l" rtl="0">
              <a:spcBef>
                <a:spcPts val="0"/>
              </a:spcBef>
              <a:spcAft>
                <a:spcPts val="0"/>
              </a:spcAft>
              <a:buNone/>
            </a:pPr>
            <a:endParaRPr sz="1700" b="1">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IN" sz="1700" b="1">
                <a:solidFill>
                  <a:schemeClr val="dk1"/>
                </a:solidFill>
                <a:latin typeface="Calibri"/>
                <a:ea typeface="Calibri"/>
                <a:cs typeface="Calibri"/>
                <a:sym typeface="Calibri"/>
              </a:rPr>
              <a:t>9. N. Kirthiga, Sudharshan, Hruthika Reddy — A Novel Women Safety Android Application (ICUIS / IEEE, 2024)</a:t>
            </a:r>
            <a:endParaRPr sz="1700" b="1">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7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IN" sz="1700">
                <a:solidFill>
                  <a:schemeClr val="dk1"/>
                </a:solidFill>
                <a:latin typeface="Calibri"/>
                <a:ea typeface="Calibri"/>
                <a:cs typeface="Calibri"/>
                <a:sym typeface="Calibri"/>
              </a:rPr>
              <a:t>Summary / Contribution: Prototype Android application focusing on quick SOS, contact alerts, and basic tracking; emphasizes minimal-user-action design.</a:t>
            </a:r>
            <a:endParaRPr sz="17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IN" sz="1700">
                <a:solidFill>
                  <a:schemeClr val="dk1"/>
                </a:solidFill>
                <a:latin typeface="Calibri"/>
                <a:ea typeface="Calibri"/>
                <a:cs typeface="Calibri"/>
                <a:sym typeface="Calibri"/>
              </a:rPr>
              <a:t>Limitations:May lack advanced modules like voice activation, danger-zone prevention, or media capture.</a:t>
            </a:r>
            <a:endParaRPr sz="17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IN" sz="1700">
                <a:solidFill>
                  <a:schemeClr val="dk1"/>
                </a:solidFill>
                <a:latin typeface="Calibri"/>
                <a:ea typeface="Calibri"/>
                <a:cs typeface="Calibri"/>
                <a:sym typeface="Calibri"/>
              </a:rPr>
              <a:t>Relation to SheShield:Confirms importance of minimal-step SOS flow; SheShield incorporates that usability while adding richer feature set.</a:t>
            </a:r>
            <a:endParaRPr sz="17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7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IN" sz="1700">
                <a:solidFill>
                  <a:schemeClr val="dk1"/>
                </a:solidFill>
                <a:latin typeface="Calibri"/>
                <a:ea typeface="Calibri"/>
                <a:cs typeface="Calibri"/>
                <a:sym typeface="Calibri"/>
              </a:rPr>
              <a:t> </a:t>
            </a:r>
            <a:r>
              <a:rPr lang="en-IN" sz="1700" b="1">
                <a:solidFill>
                  <a:schemeClr val="dk1"/>
                </a:solidFill>
                <a:latin typeface="Calibri"/>
                <a:ea typeface="Calibri"/>
                <a:cs typeface="Calibri"/>
                <a:sym typeface="Calibri"/>
              </a:rPr>
              <a:t>10. M. Anand Gopalakrishnan, S. R. Kannan, P. P. Kumar — AI-Based Smart Wearable Safety System for Women (IConIC / AIP Proc., published 2023)</a:t>
            </a:r>
            <a:endParaRPr sz="1700" b="1">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7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IN" sz="1700">
                <a:solidFill>
                  <a:schemeClr val="dk1"/>
                </a:solidFill>
                <a:latin typeface="Calibri"/>
                <a:ea typeface="Calibri"/>
                <a:cs typeface="Calibri"/>
                <a:sym typeface="Calibri"/>
              </a:rPr>
              <a:t>Summary / Contribution: Describes a wearable + AI pipeline for anomaly detection (e.g., falls, sudden motion) and automated alerting via IoT cloud.</a:t>
            </a:r>
            <a:endParaRPr sz="17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IN" sz="1700">
                <a:solidFill>
                  <a:schemeClr val="dk1"/>
                </a:solidFill>
                <a:latin typeface="Calibri"/>
                <a:ea typeface="Calibri"/>
                <a:cs typeface="Calibri"/>
                <a:sym typeface="Calibri"/>
              </a:rPr>
              <a:t>Limitations: Wearable-focused systems must address battery life, false positives, and continuous connectivity; also may not capture audio/video evidence.</a:t>
            </a:r>
            <a:endParaRPr sz="17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IN" sz="1700">
                <a:solidFill>
                  <a:schemeClr val="dk1"/>
                </a:solidFill>
                <a:latin typeface="Calibri"/>
                <a:ea typeface="Calibri"/>
                <a:cs typeface="Calibri"/>
                <a:sym typeface="Calibri"/>
              </a:rPr>
              <a:t>Relation to SheShield: Inspires potential enhancement routes (wearable integration, AI-based triggers) while SheShield focuses initially on smartphone-based, offline-resilient solutions.</a:t>
            </a:r>
            <a:endParaRPr sz="17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7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700">
              <a:solidFill>
                <a:schemeClr val="dk1"/>
              </a:solidFill>
              <a:latin typeface="Calibri"/>
              <a:ea typeface="Calibri"/>
              <a:cs typeface="Calibri"/>
              <a:sym typeface="Calibri"/>
            </a:endParaRPr>
          </a:p>
          <a:p>
            <a:pPr marL="0" lvl="0" indent="0" algn="l" rtl="0">
              <a:spcBef>
                <a:spcPts val="0"/>
              </a:spcBef>
              <a:spcAft>
                <a:spcPts val="0"/>
              </a:spcAft>
              <a:buNone/>
            </a:pPr>
            <a:endParaRPr sz="170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g374603a6cbf_2_50"/>
          <p:cNvSpPr txBox="1"/>
          <p:nvPr/>
        </p:nvSpPr>
        <p:spPr>
          <a:xfrm>
            <a:off x="0" y="162100"/>
            <a:ext cx="9009900" cy="5941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800" b="1"/>
          </a:p>
          <a:p>
            <a:pPr marL="0" lvl="0" indent="0" algn="l" rtl="0">
              <a:spcBef>
                <a:spcPts val="0"/>
              </a:spcBef>
              <a:spcAft>
                <a:spcPts val="0"/>
              </a:spcAft>
              <a:buNone/>
            </a:pPr>
            <a:r>
              <a:rPr lang="en-IN" sz="1800" b="1"/>
              <a:t>11. M. Woodburn et al. — Herd Routes: A Preventative IoT-Based System for Improving Female Pedestrian Safety (arXiv, 2024)</a:t>
            </a:r>
            <a:endParaRPr sz="1800" b="1"/>
          </a:p>
          <a:p>
            <a:pPr marL="0" lvl="0" indent="0" algn="l" rtl="0">
              <a:spcBef>
                <a:spcPts val="0"/>
              </a:spcBef>
              <a:spcAft>
                <a:spcPts val="0"/>
              </a:spcAft>
              <a:buNone/>
            </a:pPr>
            <a:endParaRPr sz="1800"/>
          </a:p>
          <a:p>
            <a:pPr marL="0" lvl="0" indent="0" algn="l" rtl="0">
              <a:spcBef>
                <a:spcPts val="0"/>
              </a:spcBef>
              <a:spcAft>
                <a:spcPts val="0"/>
              </a:spcAft>
              <a:buNone/>
            </a:pPr>
            <a:r>
              <a:rPr lang="en-IN" sz="1800"/>
              <a:t>Summary / Contribution: Proposes preventive routing concepts that favor “herd” or safer pedestrian flows and evaluates route-safety metrics.</a:t>
            </a:r>
            <a:endParaRPr sz="1800"/>
          </a:p>
          <a:p>
            <a:pPr marL="0" lvl="0" indent="0" algn="l" rtl="0">
              <a:spcBef>
                <a:spcPts val="0"/>
              </a:spcBef>
              <a:spcAft>
                <a:spcPts val="0"/>
              </a:spcAft>
              <a:buNone/>
            </a:pPr>
            <a:r>
              <a:rPr lang="en-IN" sz="1800"/>
              <a:t>Limitations:Preprint / non-IEEE, but conceptually useful; practical deployment challenges exist (data availability, privacy).</a:t>
            </a:r>
            <a:endParaRPr sz="1800"/>
          </a:p>
          <a:p>
            <a:pPr marL="0" lvl="0" indent="0" algn="l" rtl="0">
              <a:spcBef>
                <a:spcPts val="0"/>
              </a:spcBef>
              <a:spcAft>
                <a:spcPts val="0"/>
              </a:spcAft>
              <a:buNone/>
            </a:pPr>
            <a:r>
              <a:rPr lang="en-IN" sz="1800"/>
              <a:t>Relation to SheShield: Directly relevant to SheShield’s safe-path suggestion and danger-zone avoidance—useful for route scoring and recommendation logic.</a:t>
            </a:r>
            <a:endParaRPr sz="1800"/>
          </a:p>
          <a:p>
            <a:pPr marL="0" lvl="0" indent="0" algn="l" rtl="0">
              <a:spcBef>
                <a:spcPts val="0"/>
              </a:spcBef>
              <a:spcAft>
                <a:spcPts val="0"/>
              </a:spcAft>
              <a:buNone/>
            </a:pPr>
            <a:endParaRPr sz="1800"/>
          </a:p>
          <a:p>
            <a:pPr marL="0" lvl="0" indent="0" algn="l" rtl="0">
              <a:spcBef>
                <a:spcPts val="0"/>
              </a:spcBef>
              <a:spcAft>
                <a:spcPts val="0"/>
              </a:spcAft>
              <a:buNone/>
            </a:pPr>
            <a:r>
              <a:rPr lang="en-IN" sz="1800" b="1"/>
              <a:t>12. S. Farooq, S. Rehman, M. H. Rehman — The Role of IoT in Women’s Safety: A Systematic Literature Review (IEEE Access, 2023)</a:t>
            </a:r>
            <a:endParaRPr sz="1800" b="1"/>
          </a:p>
          <a:p>
            <a:pPr marL="0" lvl="0" indent="0" algn="l" rtl="0">
              <a:spcBef>
                <a:spcPts val="0"/>
              </a:spcBef>
              <a:spcAft>
                <a:spcPts val="0"/>
              </a:spcAft>
              <a:buNone/>
            </a:pPr>
            <a:endParaRPr sz="1800"/>
          </a:p>
          <a:p>
            <a:pPr marL="0" lvl="0" indent="0" algn="l" rtl="0">
              <a:spcBef>
                <a:spcPts val="0"/>
              </a:spcBef>
              <a:spcAft>
                <a:spcPts val="0"/>
              </a:spcAft>
              <a:buNone/>
            </a:pPr>
            <a:r>
              <a:rPr lang="en-IN" sz="1800"/>
              <a:t>Summary / Contribution: Systematic review highlighting the landscape of IoT-based safety solutions, common sensors, communication methods, and research challenges.</a:t>
            </a:r>
            <a:endParaRPr sz="1800"/>
          </a:p>
          <a:p>
            <a:pPr marL="0" lvl="0" indent="0" algn="l" rtl="0">
              <a:spcBef>
                <a:spcPts val="0"/>
              </a:spcBef>
              <a:spcAft>
                <a:spcPts val="0"/>
              </a:spcAft>
              <a:buNone/>
            </a:pPr>
            <a:r>
              <a:rPr lang="en-IN" sz="1800"/>
              <a:t>Limitations: As a review, it synthesizes but does not implement system prototypes.</a:t>
            </a:r>
            <a:endParaRPr sz="1800"/>
          </a:p>
          <a:p>
            <a:pPr marL="0" lvl="0" indent="0" algn="l" rtl="0">
              <a:spcBef>
                <a:spcPts val="0"/>
              </a:spcBef>
              <a:spcAft>
                <a:spcPts val="0"/>
              </a:spcAft>
              <a:buNone/>
            </a:pPr>
            <a:r>
              <a:rPr lang="en-IN" sz="1800"/>
              <a:t>Relation to SheShield: Provides evidence for choices like SMS fallback and multi-sensor integration; highlights open problems SheShield addresses (evidence workflow, offline operation).</a:t>
            </a:r>
            <a:endParaRPr sz="1800"/>
          </a:p>
          <a:p>
            <a:pPr marL="0" lvl="0" indent="0" algn="l" rtl="0">
              <a:spcBef>
                <a:spcPts val="0"/>
              </a:spcBef>
              <a:spcAft>
                <a:spcPts val="0"/>
              </a:spcAft>
              <a:buClr>
                <a:schemeClr val="dk1"/>
              </a:buClr>
              <a:buSzPts val="1100"/>
              <a:buFont typeface="Arial"/>
              <a:buNone/>
            </a:pP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g374603a6cbf_2_10"/>
          <p:cNvSpPr txBox="1"/>
          <p:nvPr/>
        </p:nvSpPr>
        <p:spPr>
          <a:xfrm>
            <a:off x="539552" y="2492896"/>
            <a:ext cx="7272900" cy="36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800"/>
              <a:buFont typeface="Calibri"/>
              <a:buNone/>
            </a:pPr>
            <a:r>
              <a:rPr lang="en-IN" sz="1800" b="1">
                <a:solidFill>
                  <a:schemeClr val="dk1"/>
                </a:solidFill>
                <a:latin typeface="Calibri"/>
                <a:ea typeface="Calibri"/>
                <a:cs typeface="Calibri"/>
                <a:sym typeface="Calibri"/>
              </a:rPr>
              <a:t>🔹 </a:t>
            </a:r>
            <a:r>
              <a:rPr lang="en-IN" sz="1800">
                <a:solidFill>
                  <a:schemeClr val="dk1"/>
                </a:solidFill>
                <a:latin typeface="Calibri"/>
                <a:ea typeface="Calibri"/>
                <a:cs typeface="Calibri"/>
                <a:sym typeface="Calibri"/>
              </a:rPr>
              <a:t>.</a:t>
            </a:r>
            <a:endParaRPr/>
          </a:p>
        </p:txBody>
      </p:sp>
      <p:sp>
        <p:nvSpPr>
          <p:cNvPr id="176" name="Google Shape;176;g374603a6cbf_2_10"/>
          <p:cNvSpPr txBox="1"/>
          <p:nvPr/>
        </p:nvSpPr>
        <p:spPr>
          <a:xfrm>
            <a:off x="2705200" y="966950"/>
            <a:ext cx="6450000" cy="446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700">
              <a:solidFill>
                <a:schemeClr val="dk1"/>
              </a:solidFill>
              <a:latin typeface="Calibri"/>
              <a:ea typeface="Calibri"/>
              <a:cs typeface="Calibri"/>
              <a:sym typeface="Calibri"/>
            </a:endParaRPr>
          </a:p>
        </p:txBody>
      </p:sp>
      <p:sp>
        <p:nvSpPr>
          <p:cNvPr id="177" name="Google Shape;177;g374603a6cbf_2_10"/>
          <p:cNvSpPr txBox="1"/>
          <p:nvPr/>
        </p:nvSpPr>
        <p:spPr>
          <a:xfrm>
            <a:off x="693075" y="665125"/>
            <a:ext cx="8462100" cy="6434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1100"/>
              <a:buFont typeface="Arial"/>
              <a:buNone/>
            </a:pPr>
            <a:r>
              <a:rPr lang="en-IN" sz="1800" b="1">
                <a:solidFill>
                  <a:schemeClr val="dk1"/>
                </a:solidFill>
                <a:latin typeface="Calibri"/>
                <a:ea typeface="Calibri"/>
                <a:cs typeface="Calibri"/>
                <a:sym typeface="Calibri"/>
              </a:rPr>
              <a:t>13. P. Ramesh, N. Dayal, V. Sandhiya, Sneha K. — IoT-Enabled Smart Safety Alert System for Women (TENSYMP / IEEE Region 10, 2023)</a:t>
            </a:r>
            <a:endParaRPr sz="1800" b="1">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8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IN" sz="1800">
                <a:solidFill>
                  <a:schemeClr val="dk1"/>
                </a:solidFill>
                <a:latin typeface="Calibri"/>
                <a:ea typeface="Calibri"/>
                <a:cs typeface="Calibri"/>
                <a:sym typeface="Calibri"/>
              </a:rPr>
              <a:t>Summary / Contribution: Regionally-focused IoT alert system demonstrating real-time alerts, cloud notification, and basic analytics for caregivers.</a:t>
            </a:r>
            <a:endParaRPr sz="18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IN" sz="1800">
                <a:solidFill>
                  <a:schemeClr val="dk1"/>
                </a:solidFill>
                <a:latin typeface="Calibri"/>
                <a:ea typeface="Calibri"/>
                <a:cs typeface="Calibri"/>
                <a:sym typeface="Calibri"/>
              </a:rPr>
              <a:t>Limitations: Might emphasize infrastructure/region specifics; may not integrate media capture or offline SMS fallback comprehensively.</a:t>
            </a:r>
            <a:endParaRPr sz="18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IN" sz="1800">
                <a:solidFill>
                  <a:schemeClr val="dk1"/>
                </a:solidFill>
                <a:latin typeface="Calibri"/>
                <a:ea typeface="Calibri"/>
                <a:cs typeface="Calibri"/>
                <a:sym typeface="Calibri"/>
              </a:rPr>
              <a:t>Relation to SheShield:Supports the cloud-backed alerting model; SheShield complements by ensuring offline resilience and media evidence handling.</a:t>
            </a:r>
            <a:endParaRPr sz="18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800">
              <a:solidFill>
                <a:schemeClr val="dk1"/>
              </a:solidFill>
              <a:latin typeface="Calibri"/>
              <a:ea typeface="Calibri"/>
              <a:cs typeface="Calibri"/>
              <a:sym typeface="Calibri"/>
            </a:endParaRPr>
          </a:p>
          <a:p>
            <a:pPr marL="0" lvl="0" indent="0" algn="l" rtl="0">
              <a:spcBef>
                <a:spcPts val="0"/>
              </a:spcBef>
              <a:spcAft>
                <a:spcPts val="0"/>
              </a:spcAft>
              <a:buNone/>
            </a:pPr>
            <a:r>
              <a:rPr lang="en-IN" sz="1800" b="1">
                <a:solidFill>
                  <a:schemeClr val="dk1"/>
                </a:solidFill>
                <a:latin typeface="Calibri"/>
                <a:ea typeface="Calibri"/>
                <a:cs typeface="Calibri"/>
                <a:sym typeface="Calibri"/>
              </a:rPr>
              <a:t>14. R. Sharma, V. A. Borkar — Smart Security Device for Women Safety Using GPS and GSM (ICAC3 / IEEE, 2023)</a:t>
            </a:r>
            <a:endParaRPr sz="1800" b="1">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8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IN" sz="1800">
                <a:solidFill>
                  <a:schemeClr val="dk1"/>
                </a:solidFill>
                <a:latin typeface="Calibri"/>
                <a:ea typeface="Calibri"/>
                <a:cs typeface="Calibri"/>
                <a:sym typeface="Calibri"/>
              </a:rPr>
              <a:t>Summary / Contribution: Demonstrates GPS+GSM-based wearable or device capable of sending SOS messages with coordinates to pre-configured numbers.</a:t>
            </a:r>
            <a:endParaRPr sz="18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IN" sz="1800">
                <a:solidFill>
                  <a:schemeClr val="dk1"/>
                </a:solidFill>
                <a:latin typeface="Calibri"/>
                <a:ea typeface="Calibri"/>
                <a:cs typeface="Calibri"/>
                <a:sym typeface="Calibri"/>
              </a:rPr>
              <a:t>Limitations:Focus on basic location alerts; often lacks smartphone app features, safe-route suggestions, and evidence capture.</a:t>
            </a:r>
            <a:endParaRPr sz="18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IN" sz="1800">
                <a:solidFill>
                  <a:schemeClr val="dk1"/>
                </a:solidFill>
                <a:latin typeface="Calibri"/>
                <a:ea typeface="Calibri"/>
                <a:cs typeface="Calibri"/>
                <a:sym typeface="Calibri"/>
              </a:rPr>
              <a:t>Relation to SheShield: Validates the GPS+SMS fallback approach—SheShield extends that with richer app features and cloud integration.</a:t>
            </a:r>
            <a:endParaRPr sz="18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3200">
              <a:solidFill>
                <a:schemeClr val="dk1"/>
              </a:solidFill>
              <a:latin typeface="Calibri"/>
              <a:ea typeface="Calibri"/>
              <a:cs typeface="Calibri"/>
              <a:sym typeface="Calibri"/>
            </a:endParaRPr>
          </a:p>
          <a:p>
            <a:pPr marL="0" lvl="0" indent="0" algn="l" rtl="0">
              <a:spcBef>
                <a:spcPts val="0"/>
              </a:spcBef>
              <a:spcAft>
                <a:spcPts val="0"/>
              </a:spcAft>
              <a:buNone/>
            </a:pPr>
            <a:endParaRPr sz="3200">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g374603a6cbf_2_31"/>
          <p:cNvSpPr txBox="1"/>
          <p:nvPr/>
        </p:nvSpPr>
        <p:spPr>
          <a:xfrm>
            <a:off x="539552" y="2492896"/>
            <a:ext cx="7272900" cy="36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800"/>
              <a:buFont typeface="Calibri"/>
              <a:buNone/>
            </a:pPr>
            <a:r>
              <a:rPr lang="en-IN" sz="1800" b="1">
                <a:solidFill>
                  <a:schemeClr val="dk1"/>
                </a:solidFill>
                <a:latin typeface="Calibri"/>
                <a:ea typeface="Calibri"/>
                <a:cs typeface="Calibri"/>
                <a:sym typeface="Calibri"/>
              </a:rPr>
              <a:t>🔹 </a:t>
            </a:r>
            <a:r>
              <a:rPr lang="en-IN" sz="1800">
                <a:solidFill>
                  <a:schemeClr val="dk1"/>
                </a:solidFill>
                <a:latin typeface="Calibri"/>
                <a:ea typeface="Calibri"/>
                <a:cs typeface="Calibri"/>
                <a:sym typeface="Calibri"/>
              </a:rPr>
              <a:t>.</a:t>
            </a:r>
            <a:endParaRPr/>
          </a:p>
        </p:txBody>
      </p:sp>
      <p:sp>
        <p:nvSpPr>
          <p:cNvPr id="183" name="Google Shape;183;g374603a6cbf_2_31"/>
          <p:cNvSpPr txBox="1"/>
          <p:nvPr/>
        </p:nvSpPr>
        <p:spPr>
          <a:xfrm>
            <a:off x="89425" y="1101075"/>
            <a:ext cx="9065700" cy="6018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1100"/>
              <a:buFont typeface="Arial"/>
              <a:buNone/>
            </a:pPr>
            <a:r>
              <a:rPr lang="en-IN" sz="1900" b="1">
                <a:solidFill>
                  <a:schemeClr val="dk1"/>
                </a:solidFill>
                <a:latin typeface="Calibri"/>
                <a:ea typeface="Calibri"/>
                <a:cs typeface="Calibri"/>
                <a:sym typeface="Calibri"/>
              </a:rPr>
              <a:t>15. K. Bhanu Priya, S. Revathi, R. Anitha — Design and Implementation of Women Safety Device Using Arduino and GPS (STSD / IEEE, 2024)</a:t>
            </a:r>
            <a:endParaRPr sz="1900" b="1">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9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IN" sz="1900">
                <a:solidFill>
                  <a:schemeClr val="dk1"/>
                </a:solidFill>
                <a:latin typeface="Calibri"/>
                <a:ea typeface="Calibri"/>
                <a:cs typeface="Calibri"/>
                <a:sym typeface="Calibri"/>
              </a:rPr>
              <a:t>Summary / Contribution: Low-cost Arduino-based prototype for location tracking and automated alerts; useful for grassroots, low-budget deployments.</a:t>
            </a:r>
            <a:endParaRPr sz="19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IN" sz="1900">
                <a:solidFill>
                  <a:schemeClr val="dk1"/>
                </a:solidFill>
                <a:latin typeface="Calibri"/>
                <a:ea typeface="Calibri"/>
                <a:cs typeface="Calibri"/>
                <a:sym typeface="Calibri"/>
              </a:rPr>
              <a:t>Limitations: Hardware prototypes often lack polished UX and are limited in media/evidence capture and smartphone convenience.</a:t>
            </a:r>
            <a:endParaRPr sz="19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IN" sz="1900">
                <a:solidFill>
                  <a:schemeClr val="dk1"/>
                </a:solidFill>
                <a:latin typeface="Calibri"/>
                <a:ea typeface="Calibri"/>
                <a:cs typeface="Calibri"/>
                <a:sym typeface="Calibri"/>
              </a:rPr>
              <a:t>Relation to SheShield: Useful precedent for low-cost solutions; SheShield leverages smartphone ubiquity to deliver richer functionality without extra hardware.</a:t>
            </a:r>
            <a:endParaRPr sz="19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9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IN" sz="1900" b="1">
                <a:solidFill>
                  <a:schemeClr val="dk1"/>
                </a:solidFill>
                <a:latin typeface="Calibri"/>
                <a:ea typeface="Calibri"/>
                <a:cs typeface="Calibri"/>
                <a:sym typeface="Calibri"/>
              </a:rPr>
              <a:t>16. T. Anjali, M. Rakesh, V. Jayasree — Smart Wearable Device for Women Safety with Live Tracking and Alerting System (ICIRCA / IEEE, 2023)</a:t>
            </a:r>
            <a:endParaRPr sz="1900" b="1">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9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IN" sz="1900">
                <a:solidFill>
                  <a:schemeClr val="dk1"/>
                </a:solidFill>
                <a:latin typeface="Calibri"/>
                <a:ea typeface="Calibri"/>
                <a:cs typeface="Calibri"/>
                <a:sym typeface="Calibri"/>
              </a:rPr>
              <a:t>Summary / Contribution: Presents a wearable with live-tracking and immediate alerting; highlights design considerations for wearability and immediate notification.</a:t>
            </a:r>
            <a:endParaRPr sz="19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IN" sz="1900">
                <a:solidFill>
                  <a:schemeClr val="dk1"/>
                </a:solidFill>
                <a:latin typeface="Calibri"/>
                <a:ea typeface="Calibri"/>
                <a:cs typeface="Calibri"/>
                <a:sym typeface="Calibri"/>
              </a:rPr>
              <a:t>Limitations:Challenges include battery, continuous connectivity, and limited on-device processing for media capture.</a:t>
            </a:r>
            <a:endParaRPr sz="19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IN" sz="1900">
                <a:solidFill>
                  <a:schemeClr val="dk1"/>
                </a:solidFill>
                <a:latin typeface="Calibri"/>
                <a:ea typeface="Calibri"/>
                <a:cs typeface="Calibri"/>
                <a:sym typeface="Calibri"/>
              </a:rPr>
              <a:t>Relation to SheShield: Suggests future integration points for SheShield (wearable-triggered SOS) while SheShield focuses on smartphone-first, multi-feature approach.</a:t>
            </a:r>
            <a:endParaRPr sz="1900">
              <a:solidFill>
                <a:schemeClr val="dk1"/>
              </a:solidFill>
              <a:latin typeface="Calibri"/>
              <a:ea typeface="Calibri"/>
              <a:cs typeface="Calibri"/>
              <a:sym typeface="Calibri"/>
            </a:endParaRPr>
          </a:p>
          <a:p>
            <a:pPr marL="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IN"/>
              <a:t>ARCHITECTURE</a:t>
            </a:r>
            <a:endParaRPr/>
          </a:p>
        </p:txBody>
      </p:sp>
      <p:pic>
        <p:nvPicPr>
          <p:cNvPr id="189" name="Google Shape;189;p7"/>
          <p:cNvPicPr preferRelativeResize="0">
            <a:picLocks noGrp="1"/>
          </p:cNvPicPr>
          <p:nvPr>
            <p:ph type="body" idx="1"/>
          </p:nvPr>
        </p:nvPicPr>
        <p:blipFill rotWithShape="1">
          <a:blip r:embed="rId3">
            <a:alphaModFix/>
          </a:blip>
          <a:srcRect/>
          <a:stretch/>
        </p:blipFill>
        <p:spPr>
          <a:xfrm>
            <a:off x="1619672" y="1600200"/>
            <a:ext cx="5616600" cy="48531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g374603a6cbf_0_56"/>
          <p:cNvSpPr txBox="1"/>
          <p:nvPr/>
        </p:nvSpPr>
        <p:spPr>
          <a:xfrm>
            <a:off x="96600" y="254550"/>
            <a:ext cx="8889600" cy="6357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IN" sz="2900">
                <a:solidFill>
                  <a:schemeClr val="dk1"/>
                </a:solidFill>
                <a:latin typeface="Calibri"/>
                <a:ea typeface="Calibri"/>
                <a:cs typeface="Calibri"/>
                <a:sym typeface="Calibri"/>
              </a:rPr>
              <a:t>Proposed System:</a:t>
            </a:r>
            <a:endParaRPr sz="29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8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IN" sz="1800">
                <a:solidFill>
                  <a:schemeClr val="dk1"/>
                </a:solidFill>
                <a:latin typeface="Calibri"/>
                <a:ea typeface="Calibri"/>
                <a:cs typeface="Calibri"/>
                <a:sym typeface="Calibri"/>
              </a:rPr>
              <a:t>The SheShield application is designed to provide quick, reliable, and accessible safety measures for women in emergencies. It integrates multiple modules such as SOS alerts, GPS tracking, safe-route suggestions, and evidence capture, ensuring functionality in both online and offline environments.</a:t>
            </a:r>
            <a:endParaRPr sz="18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800">
              <a:solidFill>
                <a:schemeClr val="dk1"/>
              </a:solidFill>
              <a:latin typeface="Calibri"/>
              <a:ea typeface="Calibri"/>
              <a:cs typeface="Calibri"/>
              <a:sym typeface="Calibri"/>
            </a:endParaRPr>
          </a:p>
          <a:p>
            <a:pPr marL="0" lvl="0" indent="0" algn="l" rtl="0">
              <a:spcBef>
                <a:spcPts val="0"/>
              </a:spcBef>
              <a:spcAft>
                <a:spcPts val="0"/>
              </a:spcAft>
              <a:buNone/>
            </a:pPr>
            <a:r>
              <a:rPr lang="en-IN" sz="2200" b="1">
                <a:solidFill>
                  <a:schemeClr val="dk1"/>
                </a:solidFill>
                <a:latin typeface="Calibri"/>
                <a:ea typeface="Calibri"/>
                <a:cs typeface="Calibri"/>
                <a:sym typeface="Calibri"/>
              </a:rPr>
              <a:t>The architecture, as shown in the diagram, consists of the following key components:</a:t>
            </a:r>
            <a:endParaRPr sz="2200" b="1">
              <a:solidFill>
                <a:schemeClr val="dk1"/>
              </a:solidFill>
              <a:latin typeface="Calibri"/>
              <a:ea typeface="Calibri"/>
              <a:cs typeface="Calibri"/>
              <a:sym typeface="Calibri"/>
            </a:endParaRPr>
          </a:p>
          <a:p>
            <a:pPr marL="0" lvl="0" indent="0" algn="l" rtl="0">
              <a:spcBef>
                <a:spcPts val="0"/>
              </a:spcBef>
              <a:spcAft>
                <a:spcPts val="0"/>
              </a:spcAft>
              <a:buNone/>
            </a:pPr>
            <a:endParaRPr sz="2200" b="1">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IN" sz="1800">
                <a:solidFill>
                  <a:schemeClr val="dk1"/>
                </a:solidFill>
                <a:latin typeface="Calibri"/>
                <a:ea typeface="Calibri"/>
                <a:cs typeface="Calibri"/>
                <a:sym typeface="Calibri"/>
              </a:rPr>
              <a:t>Smartphone (IoT Node):</a:t>
            </a:r>
            <a:endParaRPr sz="18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IN" sz="1800">
                <a:solidFill>
                  <a:schemeClr val="dk1"/>
                </a:solidFill>
                <a:latin typeface="Calibri"/>
                <a:ea typeface="Calibri"/>
                <a:cs typeface="Calibri"/>
                <a:sym typeface="Calibri"/>
              </a:rPr>
              <a:t>                   Equipped with GPS, microphone, camera, and motion sensors to collect real-time data.</a:t>
            </a:r>
            <a:endParaRPr sz="1800">
              <a:solidFill>
                <a:schemeClr val="dk1"/>
              </a:solidFill>
              <a:latin typeface="Calibri"/>
              <a:ea typeface="Calibri"/>
              <a:cs typeface="Calibri"/>
              <a:sym typeface="Calibri"/>
            </a:endParaRPr>
          </a:p>
          <a:p>
            <a:pPr marL="0" lvl="0" indent="0" algn="l" rtl="0">
              <a:spcBef>
                <a:spcPts val="0"/>
              </a:spcBef>
              <a:spcAft>
                <a:spcPts val="0"/>
              </a:spcAft>
              <a:buNone/>
            </a:pPr>
            <a:r>
              <a:rPr lang="en-IN" sz="1800">
                <a:solidFill>
                  <a:schemeClr val="dk1"/>
                </a:solidFill>
                <a:latin typeface="Calibri"/>
                <a:ea typeface="Calibri"/>
                <a:cs typeface="Calibri"/>
                <a:sym typeface="Calibri"/>
              </a:rPr>
              <a:t>Acts as the primary device for user interaction and emergency alerts.</a:t>
            </a:r>
            <a:endParaRPr sz="18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8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IN" sz="1800">
                <a:solidFill>
                  <a:schemeClr val="dk1"/>
                </a:solidFill>
                <a:latin typeface="Calibri"/>
                <a:ea typeface="Calibri"/>
                <a:cs typeface="Calibri"/>
                <a:sym typeface="Calibri"/>
              </a:rPr>
              <a:t>SheShield App:</a:t>
            </a:r>
            <a:endParaRPr sz="18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IN" sz="1800">
                <a:solidFill>
                  <a:schemeClr val="dk1"/>
                </a:solidFill>
                <a:latin typeface="Calibri"/>
                <a:ea typeface="Calibri"/>
                <a:cs typeface="Calibri"/>
                <a:sym typeface="Calibri"/>
              </a:rPr>
              <a:t>              Core application installed on the smartphone.</a:t>
            </a:r>
            <a:endParaRPr sz="18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IN" sz="1800">
                <a:solidFill>
                  <a:schemeClr val="dk1"/>
                </a:solidFill>
                <a:latin typeface="Calibri"/>
                <a:ea typeface="Calibri"/>
                <a:cs typeface="Calibri"/>
                <a:sym typeface="Calibri"/>
              </a:rPr>
              <a:t>Features include SOS button, voice command activation, motion detection, and geofencing.</a:t>
            </a:r>
            <a:endParaRPr sz="1800">
              <a:solidFill>
                <a:schemeClr val="dk1"/>
              </a:solidFill>
              <a:latin typeface="Calibri"/>
              <a:ea typeface="Calibri"/>
              <a:cs typeface="Calibri"/>
              <a:sym typeface="Calibri"/>
            </a:endParaRPr>
          </a:p>
          <a:p>
            <a:pPr marL="0" lvl="0" indent="0" algn="l" rtl="0">
              <a:spcBef>
                <a:spcPts val="0"/>
              </a:spcBef>
              <a:spcAft>
                <a:spcPts val="0"/>
              </a:spcAft>
              <a:buNone/>
            </a:pPr>
            <a:r>
              <a:rPr lang="en-IN" sz="1800">
                <a:solidFill>
                  <a:schemeClr val="dk1"/>
                </a:solidFill>
                <a:latin typeface="Calibri"/>
                <a:ea typeface="Calibri"/>
                <a:cs typeface="Calibri"/>
                <a:sym typeface="Calibri"/>
              </a:rPr>
              <a:t>Processes sensor data and triggers appropriate actions.</a:t>
            </a:r>
            <a:endParaRPr sz="18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8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800">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g374603a6cbf_0_66"/>
          <p:cNvSpPr txBox="1">
            <a:spLocks noGrp="1"/>
          </p:cNvSpPr>
          <p:nvPr>
            <p:ph type="title"/>
          </p:nvPr>
        </p:nvSpPr>
        <p:spPr>
          <a:xfrm>
            <a:off x="457200" y="274638"/>
            <a:ext cx="8229600" cy="1143000"/>
          </a:xfrm>
          <a:prstGeom prst="rect">
            <a:avLst/>
          </a:prstGeom>
        </p:spPr>
        <p:txBody>
          <a:bodyPr spcFirstLastPara="1" wrap="square" lIns="91425" tIns="45700" rIns="91425" bIns="45700" anchor="ctr" anchorCtr="0">
            <a:normAutofit fontScale="90000"/>
          </a:bodyPr>
          <a:lstStyle/>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202" name="Google Shape;202;g374603a6cbf_0_66"/>
          <p:cNvSpPr txBox="1">
            <a:spLocks noGrp="1"/>
          </p:cNvSpPr>
          <p:nvPr>
            <p:ph type="body" idx="1"/>
          </p:nvPr>
        </p:nvSpPr>
        <p:spPr>
          <a:xfrm>
            <a:off x="457200" y="0"/>
            <a:ext cx="8229600" cy="6126300"/>
          </a:xfrm>
          <a:prstGeom prst="rect">
            <a:avLst/>
          </a:prstGeom>
        </p:spPr>
        <p:txBody>
          <a:bodyPr spcFirstLastPara="1" wrap="square" lIns="91425" tIns="45700" rIns="91425" bIns="45700" anchor="t" anchorCtr="0">
            <a:normAutofit/>
          </a:bodyPr>
          <a:lstStyle/>
          <a:p>
            <a:pPr marL="0" lvl="0" indent="0" algn="l" rtl="0">
              <a:spcBef>
                <a:spcPts val="0"/>
              </a:spcBef>
              <a:spcAft>
                <a:spcPts val="0"/>
              </a:spcAft>
              <a:buNone/>
            </a:pPr>
            <a:endParaRPr sz="1800"/>
          </a:p>
          <a:p>
            <a:pPr marL="0" lvl="0" indent="0" algn="l" rtl="0">
              <a:spcBef>
                <a:spcPts val="0"/>
              </a:spcBef>
              <a:spcAft>
                <a:spcPts val="0"/>
              </a:spcAft>
              <a:buNone/>
            </a:pPr>
            <a:endParaRPr sz="1800"/>
          </a:p>
          <a:p>
            <a:pPr marL="0" lvl="0" indent="0" algn="l" rtl="0">
              <a:spcBef>
                <a:spcPts val="0"/>
              </a:spcBef>
              <a:spcAft>
                <a:spcPts val="0"/>
              </a:spcAft>
              <a:buNone/>
            </a:pPr>
            <a:r>
              <a:rPr lang="en-IN" sz="1800"/>
              <a:t>Internet Connection &amp; Cellular Network (SMS Fallback):</a:t>
            </a:r>
            <a:endParaRPr sz="1800"/>
          </a:p>
          <a:p>
            <a:pPr marL="0" lvl="0" indent="0" algn="l" rtl="0">
              <a:spcBef>
                <a:spcPts val="0"/>
              </a:spcBef>
              <a:spcAft>
                <a:spcPts val="0"/>
              </a:spcAft>
              <a:buNone/>
            </a:pPr>
            <a:r>
              <a:rPr lang="en-IN" sz="1800"/>
              <a:t>Internet is used to upload location and evidence to the cloud in real time.</a:t>
            </a:r>
            <a:endParaRPr sz="1800"/>
          </a:p>
          <a:p>
            <a:pPr marL="0" lvl="0" indent="0" algn="l" rtl="0">
              <a:spcBef>
                <a:spcPts val="0"/>
              </a:spcBef>
              <a:spcAft>
                <a:spcPts val="0"/>
              </a:spcAft>
              <a:buNone/>
            </a:pPr>
            <a:r>
              <a:rPr lang="en-IN" sz="1800"/>
              <a:t>If the internet is unavailable, the system switches to SMS-based alerts to reach trusted contacts</a:t>
            </a:r>
            <a:endParaRPr sz="1800"/>
          </a:p>
          <a:p>
            <a:pPr marL="0" lvl="0" indent="0" algn="l" rtl="0">
              <a:spcBef>
                <a:spcPts val="0"/>
              </a:spcBef>
              <a:spcAft>
                <a:spcPts val="0"/>
              </a:spcAft>
              <a:buNone/>
            </a:pPr>
            <a:r>
              <a:rPr lang="en-IN" sz="1800"/>
              <a:t>.</a:t>
            </a:r>
            <a:endParaRPr sz="1800"/>
          </a:p>
          <a:p>
            <a:pPr marL="0" lvl="0" indent="0" algn="l" rtl="0">
              <a:spcBef>
                <a:spcPts val="0"/>
              </a:spcBef>
              <a:spcAft>
                <a:spcPts val="0"/>
              </a:spcAft>
              <a:buClr>
                <a:schemeClr val="dk1"/>
              </a:buClr>
              <a:buSzPts val="1100"/>
              <a:buFont typeface="Arial"/>
              <a:buNone/>
            </a:pPr>
            <a:r>
              <a:rPr lang="en-IN" sz="1800"/>
              <a:t>Cloud Backend (Firebase):</a:t>
            </a:r>
            <a:endParaRPr sz="1800"/>
          </a:p>
          <a:p>
            <a:pPr marL="0" lvl="0" indent="0" algn="l" rtl="0">
              <a:spcBef>
                <a:spcPts val="0"/>
              </a:spcBef>
              <a:spcAft>
                <a:spcPts val="0"/>
              </a:spcAft>
              <a:buClr>
                <a:schemeClr val="dk1"/>
              </a:buClr>
              <a:buSzPts val="1100"/>
              <a:buFont typeface="Arial"/>
              <a:buNone/>
            </a:pPr>
            <a:r>
              <a:rPr lang="en-IN" sz="1800"/>
              <a:t>              Stores real-time location, media evidence, and notification logs.</a:t>
            </a:r>
            <a:endParaRPr sz="1800"/>
          </a:p>
          <a:p>
            <a:pPr marL="0" lvl="0" indent="0" algn="l" rtl="0">
              <a:spcBef>
                <a:spcPts val="0"/>
              </a:spcBef>
              <a:spcAft>
                <a:spcPts val="0"/>
              </a:spcAft>
              <a:buClr>
                <a:schemeClr val="dk1"/>
              </a:buClr>
              <a:buSzPts val="1100"/>
              <a:buFont typeface="Arial"/>
              <a:buNone/>
            </a:pPr>
            <a:r>
              <a:rPr lang="en-IN" sz="1800"/>
              <a:t>Provides authentication, data synchronization, and secure storage.  </a:t>
            </a:r>
            <a:endParaRPr sz="1800"/>
          </a:p>
          <a:p>
            <a:pPr marL="0" lvl="0" indent="0" algn="l" rtl="0">
              <a:spcBef>
                <a:spcPts val="0"/>
              </a:spcBef>
              <a:spcAft>
                <a:spcPts val="0"/>
              </a:spcAft>
              <a:buClr>
                <a:schemeClr val="dk1"/>
              </a:buClr>
              <a:buSzPts val="1100"/>
              <a:buFont typeface="Arial"/>
              <a:buNone/>
            </a:pPr>
            <a:endParaRPr sz="1800"/>
          </a:p>
          <a:p>
            <a:pPr marL="0" lvl="0" indent="0" algn="l" rtl="0">
              <a:spcBef>
                <a:spcPts val="0"/>
              </a:spcBef>
              <a:spcAft>
                <a:spcPts val="0"/>
              </a:spcAft>
              <a:buClr>
                <a:schemeClr val="dk1"/>
              </a:buClr>
              <a:buSzPts val="1100"/>
              <a:buFont typeface="Arial"/>
              <a:buNone/>
            </a:pPr>
            <a:r>
              <a:rPr lang="en-IN" sz="1800"/>
              <a:t>Trusted Contacts &amp; Guardians:</a:t>
            </a:r>
            <a:endParaRPr sz="1800"/>
          </a:p>
          <a:p>
            <a:pPr marL="0" lvl="0" indent="0" algn="l" rtl="0">
              <a:spcBef>
                <a:spcPts val="0"/>
              </a:spcBef>
              <a:spcAft>
                <a:spcPts val="0"/>
              </a:spcAft>
              <a:buClr>
                <a:schemeClr val="dk1"/>
              </a:buClr>
              <a:buSzPts val="1100"/>
              <a:buFont typeface="Arial"/>
              <a:buNone/>
            </a:pPr>
            <a:r>
              <a:rPr lang="en-IN" sz="1800"/>
              <a:t>                Predefined contacts who receive alerts, location details, and evidence during emergencies.</a:t>
            </a:r>
            <a:endParaRPr sz="1800"/>
          </a:p>
          <a:p>
            <a:pPr marL="0" lvl="0" indent="0" algn="l" rtl="0">
              <a:spcBef>
                <a:spcPts val="0"/>
              </a:spcBef>
              <a:spcAft>
                <a:spcPts val="0"/>
              </a:spcAft>
              <a:buClr>
                <a:schemeClr val="dk1"/>
              </a:buClr>
              <a:buSzPts val="1100"/>
              <a:buFont typeface="Arial"/>
              <a:buNone/>
            </a:pPr>
            <a:r>
              <a:rPr lang="en-IN" sz="1800"/>
              <a:t>Receive updates through SMS or cloud notifications.</a:t>
            </a:r>
            <a:endParaRPr sz="1800"/>
          </a:p>
          <a:p>
            <a:pPr marL="0" lvl="0" indent="0" algn="l" rtl="0">
              <a:spcBef>
                <a:spcPts val="360"/>
              </a:spcBef>
              <a:spcAft>
                <a:spcPts val="0"/>
              </a:spcAft>
              <a:buNone/>
            </a:pP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g37432561ec5_1_28"/>
          <p:cNvSpPr txBox="1">
            <a:spLocks noGrp="1"/>
          </p:cNvSpPr>
          <p:nvPr>
            <p:ph type="title"/>
          </p:nvPr>
        </p:nvSpPr>
        <p:spPr>
          <a:xfrm>
            <a:off x="457200" y="274638"/>
            <a:ext cx="8229600" cy="1143000"/>
          </a:xfrm>
          <a:prstGeom prst="rect">
            <a:avLst/>
          </a:prstGeom>
        </p:spPr>
        <p:txBody>
          <a:bodyPr spcFirstLastPara="1" wrap="square" lIns="91425" tIns="45700" rIns="91425" bIns="45700" anchor="ctr" anchorCtr="0">
            <a:normAutofit fontScale="90000"/>
          </a:bodyPr>
          <a:lstStyle/>
          <a:p>
            <a:pPr marL="0" lvl="0" indent="0" algn="ctr" rtl="0">
              <a:spcBef>
                <a:spcPts val="0"/>
              </a:spcBef>
              <a:spcAft>
                <a:spcPts val="0"/>
              </a:spcAft>
              <a:buNone/>
            </a:pPr>
            <a:endParaRPr/>
          </a:p>
          <a:p>
            <a:pPr marL="0" lvl="0" indent="0" algn="ctr" rtl="0">
              <a:spcBef>
                <a:spcPts val="0"/>
              </a:spcBef>
              <a:spcAft>
                <a:spcPts val="0"/>
              </a:spcAft>
              <a:buNone/>
            </a:pPr>
            <a:endParaRPr/>
          </a:p>
        </p:txBody>
      </p:sp>
      <p:sp>
        <p:nvSpPr>
          <p:cNvPr id="209" name="Google Shape;209;g37432561ec5_1_28"/>
          <p:cNvSpPr txBox="1">
            <a:spLocks noGrp="1"/>
          </p:cNvSpPr>
          <p:nvPr>
            <p:ph type="body" idx="1"/>
          </p:nvPr>
        </p:nvSpPr>
        <p:spPr>
          <a:xfrm>
            <a:off x="457200" y="363300"/>
            <a:ext cx="8229600" cy="6494700"/>
          </a:xfrm>
          <a:prstGeom prst="rect">
            <a:avLst/>
          </a:prstGeom>
        </p:spPr>
        <p:txBody>
          <a:bodyPr spcFirstLastPara="1" wrap="square" lIns="91425" tIns="45700" rIns="91425" bIns="45700" anchor="t" anchorCtr="0">
            <a:normAutofit fontScale="32500" lnSpcReduction="10000"/>
          </a:bodyPr>
          <a:lstStyle/>
          <a:p>
            <a:pPr marL="0" lvl="0" indent="0" algn="l" rtl="0">
              <a:spcBef>
                <a:spcPts val="360"/>
              </a:spcBef>
              <a:spcAft>
                <a:spcPts val="0"/>
              </a:spcAft>
              <a:buClr>
                <a:schemeClr val="dk1"/>
              </a:buClr>
              <a:buSzPts val="358"/>
              <a:buFont typeface="Arial"/>
              <a:buNone/>
            </a:pPr>
            <a:r>
              <a:rPr lang="en-IN" sz="10400"/>
              <a:t>Hardware Requirements:</a:t>
            </a:r>
            <a:endParaRPr sz="10400"/>
          </a:p>
          <a:p>
            <a:pPr marL="0" lvl="0" indent="0" algn="l" rtl="0">
              <a:spcBef>
                <a:spcPts val="360"/>
              </a:spcBef>
              <a:spcAft>
                <a:spcPts val="0"/>
              </a:spcAft>
              <a:buClr>
                <a:schemeClr val="dk1"/>
              </a:buClr>
              <a:buSzPts val="358"/>
              <a:buFont typeface="Arial"/>
              <a:buNone/>
            </a:pPr>
            <a:endParaRPr sz="7200"/>
          </a:p>
          <a:p>
            <a:pPr marL="0" lvl="0" indent="0" algn="l" rtl="0">
              <a:spcBef>
                <a:spcPts val="360"/>
              </a:spcBef>
              <a:spcAft>
                <a:spcPts val="0"/>
              </a:spcAft>
              <a:buClr>
                <a:schemeClr val="dk1"/>
              </a:buClr>
              <a:buSzPts val="358"/>
              <a:buFont typeface="Arial"/>
              <a:buNone/>
            </a:pPr>
            <a:r>
              <a:rPr lang="en-IN" sz="7200"/>
              <a:t>  * Processor: Intel i3 or higher / AMD equivalent</a:t>
            </a:r>
            <a:endParaRPr sz="7200"/>
          </a:p>
          <a:p>
            <a:pPr marL="0" lvl="0" indent="0" algn="l" rtl="0">
              <a:spcBef>
                <a:spcPts val="360"/>
              </a:spcBef>
              <a:spcAft>
                <a:spcPts val="0"/>
              </a:spcAft>
              <a:buClr>
                <a:schemeClr val="dk1"/>
              </a:buClr>
              <a:buSzPts val="358"/>
              <a:buFont typeface="Arial"/>
              <a:buNone/>
            </a:pPr>
            <a:r>
              <a:rPr lang="en-IN" sz="7200"/>
              <a:t>  * RAM: Minimum 8 GB</a:t>
            </a:r>
            <a:endParaRPr sz="7200"/>
          </a:p>
          <a:p>
            <a:pPr marL="0" lvl="0" indent="0" algn="l" rtl="0">
              <a:spcBef>
                <a:spcPts val="360"/>
              </a:spcBef>
              <a:spcAft>
                <a:spcPts val="0"/>
              </a:spcAft>
              <a:buClr>
                <a:schemeClr val="dk1"/>
              </a:buClr>
              <a:buSzPts val="358"/>
              <a:buFont typeface="Arial"/>
              <a:buNone/>
            </a:pPr>
            <a:r>
              <a:rPr lang="en-IN" sz="7200"/>
              <a:t>  * Storage: 500 GB or more</a:t>
            </a:r>
            <a:endParaRPr sz="7200"/>
          </a:p>
          <a:p>
            <a:pPr marL="0" lvl="0" indent="0" algn="l" rtl="0">
              <a:spcBef>
                <a:spcPts val="360"/>
              </a:spcBef>
              <a:spcAft>
                <a:spcPts val="0"/>
              </a:spcAft>
              <a:buNone/>
            </a:pPr>
            <a:r>
              <a:rPr lang="en-IN" sz="7200"/>
              <a:t>  * Operating System: Windows 10 / macOS / Linux.</a:t>
            </a:r>
            <a:endParaRPr sz="7200"/>
          </a:p>
          <a:p>
            <a:pPr marL="0" lvl="0" indent="0" algn="l" rtl="0">
              <a:spcBef>
                <a:spcPts val="360"/>
              </a:spcBef>
              <a:spcAft>
                <a:spcPts val="0"/>
              </a:spcAft>
              <a:buClr>
                <a:schemeClr val="dk1"/>
              </a:buClr>
              <a:buSzPts val="358"/>
              <a:buFont typeface="Arial"/>
              <a:buNone/>
            </a:pPr>
            <a:endParaRPr sz="7200"/>
          </a:p>
          <a:p>
            <a:pPr marL="0" lvl="0" indent="0" algn="l" rtl="0">
              <a:spcBef>
                <a:spcPts val="360"/>
              </a:spcBef>
              <a:spcAft>
                <a:spcPts val="0"/>
              </a:spcAft>
              <a:buClr>
                <a:schemeClr val="dk1"/>
              </a:buClr>
              <a:buSzPts val="358"/>
              <a:buFont typeface="Arial"/>
              <a:buNone/>
            </a:pPr>
            <a:r>
              <a:rPr lang="en-IN" sz="8000"/>
              <a:t> Mobile Device for Testing:</a:t>
            </a:r>
            <a:endParaRPr sz="8000"/>
          </a:p>
          <a:p>
            <a:pPr marL="0" lvl="0" indent="0" algn="l" rtl="0">
              <a:spcBef>
                <a:spcPts val="360"/>
              </a:spcBef>
              <a:spcAft>
                <a:spcPts val="0"/>
              </a:spcAft>
              <a:buClr>
                <a:schemeClr val="dk1"/>
              </a:buClr>
              <a:buSzPct val="34375"/>
              <a:buFont typeface="Arial"/>
              <a:buNone/>
            </a:pPr>
            <a:endParaRPr/>
          </a:p>
          <a:p>
            <a:pPr marL="0" lvl="0" indent="0" algn="l" rtl="0">
              <a:spcBef>
                <a:spcPts val="360"/>
              </a:spcBef>
              <a:spcAft>
                <a:spcPts val="0"/>
              </a:spcAft>
              <a:buClr>
                <a:schemeClr val="dk1"/>
              </a:buClr>
              <a:buSzPts val="358"/>
              <a:buFont typeface="Arial"/>
              <a:buNone/>
            </a:pPr>
            <a:r>
              <a:rPr lang="en-IN" sz="7200"/>
              <a:t>  * Android smartphone (Android 8.0 or higher)</a:t>
            </a:r>
            <a:endParaRPr sz="7200"/>
          </a:p>
          <a:p>
            <a:pPr marL="0" lvl="0" indent="0" algn="l" rtl="0">
              <a:spcBef>
                <a:spcPts val="360"/>
              </a:spcBef>
              <a:spcAft>
                <a:spcPts val="0"/>
              </a:spcAft>
              <a:buClr>
                <a:schemeClr val="dk1"/>
              </a:buClr>
              <a:buSzPts val="358"/>
              <a:buFont typeface="Arial"/>
              <a:buNone/>
            </a:pPr>
            <a:r>
              <a:rPr lang="en-IN" sz="7200"/>
              <a:t>  * Built-in GPS module</a:t>
            </a:r>
            <a:endParaRPr sz="7200"/>
          </a:p>
          <a:p>
            <a:pPr marL="0" lvl="0" indent="0" algn="l" rtl="0">
              <a:spcBef>
                <a:spcPts val="360"/>
              </a:spcBef>
              <a:spcAft>
                <a:spcPts val="0"/>
              </a:spcAft>
              <a:buClr>
                <a:schemeClr val="dk1"/>
              </a:buClr>
              <a:buSzPts val="358"/>
              <a:buFont typeface="Arial"/>
              <a:buNone/>
            </a:pPr>
            <a:r>
              <a:rPr lang="en-IN" sz="7200"/>
              <a:t>  * Camera (front and rear)</a:t>
            </a:r>
            <a:endParaRPr sz="7200"/>
          </a:p>
          <a:p>
            <a:pPr marL="0" lvl="0" indent="0" algn="l" rtl="0">
              <a:spcBef>
                <a:spcPts val="360"/>
              </a:spcBef>
              <a:spcAft>
                <a:spcPts val="0"/>
              </a:spcAft>
              <a:buClr>
                <a:schemeClr val="dk1"/>
              </a:buClr>
              <a:buSzPts val="358"/>
              <a:buFont typeface="Arial"/>
              <a:buNone/>
            </a:pPr>
            <a:r>
              <a:rPr lang="en-IN" sz="7200"/>
              <a:t>  * SMS functionality</a:t>
            </a:r>
            <a:endParaRPr sz="7200"/>
          </a:p>
          <a:p>
            <a:pPr marL="0" lvl="0" indent="0" algn="l" rtl="0">
              <a:spcBef>
                <a:spcPts val="360"/>
              </a:spcBef>
              <a:spcAft>
                <a:spcPts val="0"/>
              </a:spcAft>
              <a:buNone/>
            </a:pPr>
            <a:r>
              <a:rPr lang="en-IN" sz="7200"/>
              <a:t>  * Internet connectivity (Wi-Fi / Mobile Data)</a:t>
            </a:r>
            <a:endParaRPr sz="7200"/>
          </a:p>
          <a:p>
            <a:pPr marL="0" lvl="0" indent="0" algn="l" rtl="0">
              <a:spcBef>
                <a:spcPts val="360"/>
              </a:spcBef>
              <a:spcAft>
                <a:spcPts val="0"/>
              </a:spcAft>
              <a:buClr>
                <a:schemeClr val="dk1"/>
              </a:buClr>
              <a:buSzPts val="358"/>
              <a:buFont typeface="Arial"/>
              <a:buNone/>
            </a:pPr>
            <a:endParaRPr sz="7200"/>
          </a:p>
          <a:p>
            <a:pPr marL="0" lvl="0" indent="0" algn="l" rtl="0">
              <a:spcBef>
                <a:spcPts val="360"/>
              </a:spcBef>
              <a:spcAft>
                <a:spcPts val="0"/>
              </a:spcAft>
              <a:buClr>
                <a:schemeClr val="dk1"/>
              </a:buClr>
              <a:buSzPct val="34375"/>
              <a:buFont typeface="Arial"/>
              <a:buNone/>
            </a:pPr>
            <a:endParaRPr/>
          </a:p>
          <a:p>
            <a:pPr marL="0" lvl="0" indent="0" algn="l" rtl="0">
              <a:spcBef>
                <a:spcPts val="360"/>
              </a:spcBef>
              <a:spcAft>
                <a:spcPts val="0"/>
              </a:spcAft>
              <a:buClr>
                <a:schemeClr val="dk1"/>
              </a:buClr>
              <a:buSzPct val="34375"/>
              <a:buFont typeface="Arial"/>
              <a:buNone/>
            </a:pPr>
            <a:endParaRPr/>
          </a:p>
          <a:p>
            <a:pPr marL="0" lvl="0" indent="0" algn="l" rtl="0">
              <a:spcBef>
                <a:spcPts val="360"/>
              </a:spcBef>
              <a:spcAft>
                <a:spcPts val="0"/>
              </a:spcAft>
              <a:buNone/>
            </a:pPr>
            <a:endParaRPr/>
          </a:p>
          <a:p>
            <a:pPr marL="0" lvl="0" indent="0" algn="l" rtl="0">
              <a:spcBef>
                <a:spcPts val="360"/>
              </a:spcBef>
              <a:spcAft>
                <a:spcPts val="0"/>
              </a:spcAft>
              <a:buNone/>
            </a:pP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g37432561ec5_1_35"/>
          <p:cNvSpPr txBox="1">
            <a:spLocks noGrp="1"/>
          </p:cNvSpPr>
          <p:nvPr>
            <p:ph type="title"/>
          </p:nvPr>
        </p:nvSpPr>
        <p:spPr>
          <a:xfrm>
            <a:off x="457200" y="224403"/>
            <a:ext cx="8229600" cy="6208800"/>
          </a:xfrm>
          <a:prstGeom prst="rect">
            <a:avLst/>
          </a:prstGeom>
        </p:spPr>
        <p:txBody>
          <a:bodyPr spcFirstLastPara="1" wrap="square" lIns="91425" tIns="45700" rIns="91425" bIns="45700" anchor="ctr" anchorCtr="0">
            <a:normAutofit/>
          </a:bodyPr>
          <a:lstStyle/>
          <a:p>
            <a:pPr marL="0" lvl="0" indent="0" algn="ctr" rtl="0">
              <a:spcBef>
                <a:spcPts val="0"/>
              </a:spcBef>
              <a:spcAft>
                <a:spcPts val="0"/>
              </a:spcAft>
              <a:buNone/>
            </a:pPr>
            <a:endParaRPr/>
          </a:p>
          <a:p>
            <a:pPr marL="0" lvl="0" indent="0" algn="ctr" rtl="0">
              <a:spcBef>
                <a:spcPts val="0"/>
              </a:spcBef>
              <a:spcAft>
                <a:spcPts val="0"/>
              </a:spcAft>
              <a:buNone/>
            </a:pPr>
            <a:endParaRPr/>
          </a:p>
        </p:txBody>
      </p:sp>
      <p:sp>
        <p:nvSpPr>
          <p:cNvPr id="216" name="Google Shape;216;g37432561ec5_1_35"/>
          <p:cNvSpPr txBox="1">
            <a:spLocks noGrp="1"/>
          </p:cNvSpPr>
          <p:nvPr>
            <p:ph type="body" idx="1"/>
          </p:nvPr>
        </p:nvSpPr>
        <p:spPr>
          <a:xfrm>
            <a:off x="457200" y="325850"/>
            <a:ext cx="8229600" cy="6358800"/>
          </a:xfrm>
          <a:prstGeom prst="rect">
            <a:avLst/>
          </a:prstGeom>
        </p:spPr>
        <p:txBody>
          <a:bodyPr spcFirstLastPara="1" wrap="square" lIns="91425" tIns="45700" rIns="91425" bIns="45700" anchor="t" anchorCtr="0">
            <a:normAutofit fontScale="92500" lnSpcReduction="20000"/>
          </a:bodyPr>
          <a:lstStyle/>
          <a:p>
            <a:pPr marL="0" lvl="0" indent="0" algn="l" rtl="0">
              <a:spcBef>
                <a:spcPts val="360"/>
              </a:spcBef>
              <a:spcAft>
                <a:spcPts val="0"/>
              </a:spcAft>
              <a:buNone/>
            </a:pPr>
            <a:endParaRPr sz="4150"/>
          </a:p>
          <a:p>
            <a:pPr marL="0" lvl="0" indent="0" algn="l" rtl="0">
              <a:spcBef>
                <a:spcPts val="360"/>
              </a:spcBef>
              <a:spcAft>
                <a:spcPts val="0"/>
              </a:spcAft>
              <a:buClr>
                <a:schemeClr val="dk1"/>
              </a:buClr>
              <a:buSzPct val="26506"/>
              <a:buFont typeface="Arial"/>
              <a:buNone/>
            </a:pPr>
            <a:r>
              <a:rPr lang="en-IN" sz="4150"/>
              <a:t>Software Requirements:</a:t>
            </a:r>
            <a:endParaRPr sz="4150"/>
          </a:p>
          <a:p>
            <a:pPr marL="0" lvl="0" indent="0" algn="l" rtl="0">
              <a:spcBef>
                <a:spcPts val="360"/>
              </a:spcBef>
              <a:spcAft>
                <a:spcPts val="0"/>
              </a:spcAft>
              <a:buClr>
                <a:schemeClr val="dk1"/>
              </a:buClr>
              <a:buSzPct val="34375"/>
              <a:buFont typeface="Arial"/>
              <a:buNone/>
            </a:pPr>
            <a:endParaRPr/>
          </a:p>
          <a:p>
            <a:pPr marL="0" lvl="0" indent="0" algn="l" rtl="0">
              <a:spcBef>
                <a:spcPts val="360"/>
              </a:spcBef>
              <a:spcAft>
                <a:spcPts val="0"/>
              </a:spcAft>
              <a:buClr>
                <a:schemeClr val="dk1"/>
              </a:buClr>
              <a:buSzPct val="34375"/>
              <a:buFont typeface="Arial"/>
              <a:buNone/>
            </a:pPr>
            <a:r>
              <a:rPr lang="en-IN"/>
              <a:t>Development Tool:</a:t>
            </a:r>
            <a:endParaRPr/>
          </a:p>
          <a:p>
            <a:pPr marL="0" lvl="0" indent="0" algn="l" rtl="0">
              <a:spcBef>
                <a:spcPts val="360"/>
              </a:spcBef>
              <a:spcAft>
                <a:spcPts val="0"/>
              </a:spcAft>
              <a:buClr>
                <a:schemeClr val="dk1"/>
              </a:buClr>
              <a:buSzPct val="34375"/>
              <a:buFont typeface="Arial"/>
              <a:buNone/>
            </a:pPr>
            <a:endParaRPr/>
          </a:p>
          <a:p>
            <a:pPr marL="0" lvl="0" indent="0" algn="l" rtl="0">
              <a:spcBef>
                <a:spcPts val="360"/>
              </a:spcBef>
              <a:spcAft>
                <a:spcPts val="0"/>
              </a:spcAft>
              <a:buClr>
                <a:schemeClr val="dk1"/>
              </a:buClr>
              <a:buSzPct val="34375"/>
              <a:buFont typeface="Arial"/>
              <a:buNone/>
            </a:pPr>
            <a:r>
              <a:rPr lang="en-IN"/>
              <a:t>  * Android Studio (latest stable version)</a:t>
            </a:r>
            <a:endParaRPr/>
          </a:p>
          <a:p>
            <a:pPr marL="0" lvl="0" indent="0" algn="l" rtl="0">
              <a:spcBef>
                <a:spcPts val="360"/>
              </a:spcBef>
              <a:spcAft>
                <a:spcPts val="0"/>
              </a:spcAft>
              <a:buClr>
                <a:schemeClr val="dk1"/>
              </a:buClr>
              <a:buSzPct val="34375"/>
              <a:buFont typeface="Arial"/>
              <a:buNone/>
            </a:pPr>
            <a:r>
              <a:rPr lang="en-IN"/>
              <a:t>  * Java JDK (version 8 or above)</a:t>
            </a:r>
            <a:endParaRPr/>
          </a:p>
          <a:p>
            <a:pPr marL="0" lvl="0" indent="0" algn="l" rtl="0">
              <a:spcBef>
                <a:spcPts val="360"/>
              </a:spcBef>
              <a:spcAft>
                <a:spcPts val="0"/>
              </a:spcAft>
              <a:buNone/>
            </a:pPr>
            <a:r>
              <a:rPr lang="en-IN"/>
              <a:t>  * Gradle build system</a:t>
            </a:r>
            <a:endParaRPr/>
          </a:p>
          <a:p>
            <a:pPr marL="0" lvl="0" indent="0" algn="l" rtl="0">
              <a:spcBef>
                <a:spcPts val="360"/>
              </a:spcBef>
              <a:spcAft>
                <a:spcPts val="0"/>
              </a:spcAft>
              <a:buClr>
                <a:schemeClr val="dk1"/>
              </a:buClr>
              <a:buSzPct val="34375"/>
              <a:buFont typeface="Arial"/>
              <a:buNone/>
            </a:pPr>
            <a:endParaRPr/>
          </a:p>
          <a:p>
            <a:pPr marL="0" lvl="0" indent="0" algn="l" rtl="0">
              <a:spcBef>
                <a:spcPts val="360"/>
              </a:spcBef>
              <a:spcAft>
                <a:spcPts val="0"/>
              </a:spcAft>
              <a:buNone/>
            </a:pPr>
            <a:r>
              <a:rPr lang="en-IN"/>
              <a:t>Programming Languages:</a:t>
            </a:r>
            <a:endParaRPr/>
          </a:p>
          <a:p>
            <a:pPr marL="0" lvl="0" indent="0" algn="l" rtl="0">
              <a:spcBef>
                <a:spcPts val="360"/>
              </a:spcBef>
              <a:spcAft>
                <a:spcPts val="0"/>
              </a:spcAft>
              <a:buClr>
                <a:schemeClr val="dk1"/>
              </a:buClr>
              <a:buSzPct val="34375"/>
              <a:buFont typeface="Arial"/>
              <a:buNone/>
            </a:pPr>
            <a:endParaRPr/>
          </a:p>
          <a:p>
            <a:pPr marL="0" lvl="0" indent="0" algn="l" rtl="0">
              <a:spcBef>
                <a:spcPts val="360"/>
              </a:spcBef>
              <a:spcAft>
                <a:spcPts val="0"/>
              </a:spcAft>
              <a:buClr>
                <a:schemeClr val="dk1"/>
              </a:buClr>
              <a:buSzPct val="34375"/>
              <a:buFont typeface="Arial"/>
              <a:buNone/>
            </a:pPr>
            <a:r>
              <a:rPr lang="en-IN"/>
              <a:t>  * Java / Kotlin for Android app development</a:t>
            </a:r>
            <a:endParaRPr/>
          </a:p>
          <a:p>
            <a:pPr marL="0" lvl="0" indent="0" algn="l" rtl="0">
              <a:spcBef>
                <a:spcPts val="360"/>
              </a:spcBef>
              <a:spcAft>
                <a:spcPts val="0"/>
              </a:spcAft>
              <a:buClr>
                <a:schemeClr val="dk1"/>
              </a:buClr>
              <a:buSzPct val="34375"/>
              <a:buFont typeface="Arial"/>
              <a:buNone/>
            </a:pPr>
            <a:endParaRPr/>
          </a:p>
          <a:p>
            <a:pPr marL="0" lvl="0" indent="0" algn="l" rtl="0">
              <a:spcBef>
                <a:spcPts val="360"/>
              </a:spcBef>
              <a:spcAft>
                <a:spcPts val="0"/>
              </a:spcAft>
              <a:buNone/>
            </a:pP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Google Shape;222;g374603a6cbf_0_11"/>
          <p:cNvSpPr txBox="1"/>
          <p:nvPr/>
        </p:nvSpPr>
        <p:spPr>
          <a:xfrm>
            <a:off x="2906400" y="279450"/>
            <a:ext cx="7288500" cy="1108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IN" sz="6000">
                <a:solidFill>
                  <a:schemeClr val="dk1"/>
                </a:solidFill>
                <a:latin typeface="Calibri"/>
                <a:ea typeface="Calibri"/>
                <a:cs typeface="Calibri"/>
                <a:sym typeface="Calibri"/>
              </a:rPr>
              <a:t>MODULES</a:t>
            </a:r>
            <a:endParaRPr>
              <a:solidFill>
                <a:schemeClr val="dk1"/>
              </a:solidFill>
              <a:latin typeface="Calibri"/>
              <a:ea typeface="Calibri"/>
              <a:cs typeface="Calibri"/>
              <a:sym typeface="Calibri"/>
            </a:endParaRPr>
          </a:p>
        </p:txBody>
      </p:sp>
      <p:sp>
        <p:nvSpPr>
          <p:cNvPr id="223" name="Google Shape;223;g374603a6cbf_0_11"/>
          <p:cNvSpPr txBox="1"/>
          <p:nvPr/>
        </p:nvSpPr>
        <p:spPr>
          <a:xfrm>
            <a:off x="290650" y="1704725"/>
            <a:ext cx="8864700" cy="4125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1100"/>
              <a:buFont typeface="Arial"/>
              <a:buNone/>
            </a:pPr>
            <a:r>
              <a:rPr lang="en-IN" sz="3200">
                <a:solidFill>
                  <a:schemeClr val="dk1"/>
                </a:solidFill>
                <a:latin typeface="Calibri"/>
                <a:ea typeface="Calibri"/>
                <a:cs typeface="Calibri"/>
                <a:sym typeface="Calibri"/>
              </a:rPr>
              <a:t>1. User Registration and Authentication Module</a:t>
            </a:r>
            <a:endParaRPr sz="3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IN" sz="3200">
                <a:solidFill>
                  <a:schemeClr val="dk1"/>
                </a:solidFill>
                <a:latin typeface="Calibri"/>
                <a:ea typeface="Calibri"/>
                <a:cs typeface="Calibri"/>
                <a:sym typeface="Calibri"/>
              </a:rPr>
              <a:t>2. SOS Alert Module</a:t>
            </a:r>
            <a:endParaRPr sz="3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IN" sz="3200">
                <a:solidFill>
                  <a:schemeClr val="dk1"/>
                </a:solidFill>
                <a:latin typeface="Calibri"/>
                <a:ea typeface="Calibri"/>
                <a:cs typeface="Calibri"/>
                <a:sym typeface="Calibri"/>
              </a:rPr>
              <a:t>3. Location Tracking Module</a:t>
            </a:r>
            <a:endParaRPr sz="3200">
              <a:solidFill>
                <a:schemeClr val="dk1"/>
              </a:solidFill>
              <a:latin typeface="Calibri"/>
              <a:ea typeface="Calibri"/>
              <a:cs typeface="Calibri"/>
              <a:sym typeface="Calibri"/>
            </a:endParaRPr>
          </a:p>
          <a:p>
            <a:pPr marL="0" lvl="0" indent="0" algn="l" rtl="0">
              <a:spcBef>
                <a:spcPts val="0"/>
              </a:spcBef>
              <a:spcAft>
                <a:spcPts val="0"/>
              </a:spcAft>
              <a:buNone/>
            </a:pPr>
            <a:r>
              <a:rPr lang="en-IN" sz="3200">
                <a:solidFill>
                  <a:schemeClr val="dk1"/>
                </a:solidFill>
                <a:latin typeface="Calibri"/>
                <a:ea typeface="Calibri"/>
                <a:cs typeface="Calibri"/>
                <a:sym typeface="Calibri"/>
              </a:rPr>
              <a:t>4. Audio Evidence Recording Module</a:t>
            </a:r>
            <a:endParaRPr sz="3200">
              <a:solidFill>
                <a:schemeClr val="dk1"/>
              </a:solidFill>
              <a:latin typeface="Calibri"/>
              <a:ea typeface="Calibri"/>
              <a:cs typeface="Calibri"/>
              <a:sym typeface="Calibri"/>
            </a:endParaRPr>
          </a:p>
          <a:p>
            <a:pPr marL="0" lvl="0" indent="0" algn="l" rtl="0">
              <a:spcBef>
                <a:spcPts val="0"/>
              </a:spcBef>
              <a:spcAft>
                <a:spcPts val="0"/>
              </a:spcAft>
              <a:buNone/>
            </a:pPr>
            <a:r>
              <a:rPr lang="en-IN" sz="3200">
                <a:solidFill>
                  <a:schemeClr val="dk1"/>
                </a:solidFill>
                <a:latin typeface="Calibri"/>
                <a:ea typeface="Calibri"/>
                <a:cs typeface="Calibri"/>
                <a:sym typeface="Calibri"/>
              </a:rPr>
              <a:t>5.Video Evidence Recording Module</a:t>
            </a:r>
            <a:endParaRPr sz="3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IN" sz="3200">
                <a:solidFill>
                  <a:schemeClr val="dk1"/>
                </a:solidFill>
                <a:latin typeface="Calibri"/>
                <a:ea typeface="Calibri"/>
                <a:cs typeface="Calibri"/>
                <a:sym typeface="Calibri"/>
              </a:rPr>
              <a:t>6.Trusted contacts module</a:t>
            </a:r>
            <a:endParaRPr sz="3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IN" sz="3200">
                <a:solidFill>
                  <a:schemeClr val="dk1"/>
                </a:solidFill>
                <a:latin typeface="Calibri"/>
                <a:ea typeface="Calibri"/>
                <a:cs typeface="Calibri"/>
                <a:sym typeface="Calibri"/>
              </a:rPr>
              <a:t>7.Offline SMS support</a:t>
            </a:r>
            <a:endParaRPr sz="3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IN" sz="3200">
                <a:solidFill>
                  <a:schemeClr val="dk1"/>
                </a:solidFill>
                <a:latin typeface="Calibri"/>
                <a:ea typeface="Calibri"/>
                <a:cs typeface="Calibri"/>
                <a:sym typeface="Calibri"/>
              </a:rPr>
              <a:t>8.Setting permission module</a:t>
            </a:r>
            <a:endParaRPr sz="3200">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p17"/>
          <p:cNvSpPr txBox="1"/>
          <p:nvPr/>
        </p:nvSpPr>
        <p:spPr>
          <a:xfrm>
            <a:off x="899592" y="1196752"/>
            <a:ext cx="7056784" cy="58169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800"/>
              <a:buFont typeface="Calibri"/>
              <a:buNone/>
            </a:pPr>
            <a:r>
              <a:rPr lang="en-IN" sz="1800" b="1">
                <a:solidFill>
                  <a:schemeClr val="dk1"/>
                </a:solidFill>
                <a:latin typeface="Calibri"/>
                <a:ea typeface="Calibri"/>
                <a:cs typeface="Calibri"/>
                <a:sym typeface="Calibri"/>
              </a:rPr>
              <a:t>1</a:t>
            </a:r>
            <a:r>
              <a:rPr lang="en-IN" sz="2400" b="1">
                <a:solidFill>
                  <a:schemeClr val="dk1"/>
                </a:solidFill>
                <a:latin typeface="Calibri"/>
                <a:ea typeface="Calibri"/>
                <a:cs typeface="Calibri"/>
                <a:sym typeface="Calibri"/>
              </a:rPr>
              <a:t>. User Authentication Module</a:t>
            </a:r>
            <a:endParaRPr/>
          </a:p>
          <a:p>
            <a:pPr marL="0" marR="0" lvl="0" indent="0" algn="l" rtl="0">
              <a:spcBef>
                <a:spcPts val="0"/>
              </a:spcBef>
              <a:spcAft>
                <a:spcPts val="0"/>
              </a:spcAft>
              <a:buClr>
                <a:schemeClr val="dk1"/>
              </a:buClr>
              <a:buSzPts val="2400"/>
              <a:buFont typeface="Calibri"/>
              <a:buNone/>
            </a:pPr>
            <a:endParaRPr sz="2400" b="1">
              <a:solidFill>
                <a:schemeClr val="dk1"/>
              </a:solidFill>
              <a:latin typeface="Calibri"/>
              <a:ea typeface="Calibri"/>
              <a:cs typeface="Calibri"/>
              <a:sym typeface="Calibri"/>
            </a:endParaRPr>
          </a:p>
          <a:p>
            <a:pPr marL="0" marR="0" lvl="0" indent="0" algn="l" rtl="0">
              <a:spcBef>
                <a:spcPts val="0"/>
              </a:spcBef>
              <a:spcAft>
                <a:spcPts val="0"/>
              </a:spcAft>
              <a:buClr>
                <a:schemeClr val="dk1"/>
              </a:buClr>
              <a:buSzPts val="1800"/>
              <a:buFont typeface="Calibri"/>
              <a:buNone/>
            </a:pPr>
            <a:r>
              <a:rPr lang="en-IN" sz="1800" b="1">
                <a:solidFill>
                  <a:schemeClr val="dk1"/>
                </a:solidFill>
                <a:latin typeface="Calibri"/>
                <a:ea typeface="Calibri"/>
                <a:cs typeface="Calibri"/>
                <a:sym typeface="Calibri"/>
              </a:rPr>
              <a:t>Purpose</a:t>
            </a:r>
            <a:r>
              <a:rPr lang="en-IN" sz="1800">
                <a:solidFill>
                  <a:schemeClr val="dk1"/>
                </a:solidFill>
                <a:latin typeface="Calibri"/>
                <a:ea typeface="Calibri"/>
                <a:cs typeface="Calibri"/>
                <a:sym typeface="Calibri"/>
              </a:rPr>
              <a:t>: Secure user login and access.</a:t>
            </a:r>
            <a:br>
              <a:rPr lang="en-IN" sz="1800">
                <a:solidFill>
                  <a:schemeClr val="dk1"/>
                </a:solidFill>
                <a:latin typeface="Calibri"/>
                <a:ea typeface="Calibri"/>
                <a:cs typeface="Calibri"/>
                <a:sym typeface="Calibri"/>
              </a:rPr>
            </a:br>
            <a:r>
              <a:rPr lang="en-IN" sz="1800" b="1">
                <a:solidFill>
                  <a:schemeClr val="dk1"/>
                </a:solidFill>
                <a:latin typeface="Calibri"/>
                <a:ea typeface="Calibri"/>
                <a:cs typeface="Calibri"/>
                <a:sym typeface="Calibri"/>
              </a:rPr>
              <a:t>Tools Used</a:t>
            </a:r>
            <a:r>
              <a:rPr lang="en-IN" sz="1800">
                <a:solidFill>
                  <a:schemeClr val="dk1"/>
                </a:solidFill>
                <a:latin typeface="Calibri"/>
                <a:ea typeface="Calibri"/>
                <a:cs typeface="Calibri"/>
                <a:sym typeface="Calibri"/>
              </a:rPr>
              <a:t>: Firebase Authentication</a:t>
            </a:r>
            <a:br>
              <a:rPr lang="en-IN" sz="1800">
                <a:solidFill>
                  <a:schemeClr val="dk1"/>
                </a:solidFill>
                <a:latin typeface="Calibri"/>
                <a:ea typeface="Calibri"/>
                <a:cs typeface="Calibri"/>
                <a:sym typeface="Calibri"/>
              </a:rPr>
            </a:br>
            <a:r>
              <a:rPr lang="en-IN" sz="1800" b="1">
                <a:solidFill>
                  <a:schemeClr val="dk1"/>
                </a:solidFill>
                <a:latin typeface="Calibri"/>
                <a:ea typeface="Calibri"/>
                <a:cs typeface="Calibri"/>
                <a:sym typeface="Calibri"/>
              </a:rPr>
              <a:t>Basic Features</a:t>
            </a:r>
            <a:r>
              <a:rPr lang="en-IN" sz="1800">
                <a:solidFill>
                  <a:schemeClr val="dk1"/>
                </a:solidFill>
                <a:latin typeface="Calibri"/>
                <a:ea typeface="Calibri"/>
                <a:cs typeface="Calibri"/>
                <a:sym typeface="Calibri"/>
              </a:rPr>
              <a:t>:</a:t>
            </a:r>
            <a:endParaRPr/>
          </a:p>
          <a:p>
            <a:pPr marL="0" marR="0" lvl="0" indent="-114300" algn="l" rtl="0">
              <a:spcBef>
                <a:spcPts val="0"/>
              </a:spcBef>
              <a:spcAft>
                <a:spcPts val="0"/>
              </a:spcAft>
              <a:buClr>
                <a:schemeClr val="dk1"/>
              </a:buClr>
              <a:buSzPts val="1800"/>
              <a:buFont typeface="Arial"/>
              <a:buChar char="•"/>
            </a:pPr>
            <a:r>
              <a:rPr lang="en-IN" sz="1800">
                <a:solidFill>
                  <a:schemeClr val="dk1"/>
                </a:solidFill>
                <a:latin typeface="Calibri"/>
                <a:ea typeface="Calibri"/>
                <a:cs typeface="Calibri"/>
                <a:sym typeface="Calibri"/>
              </a:rPr>
              <a:t>Email/password login</a:t>
            </a:r>
            <a:endParaRPr/>
          </a:p>
          <a:p>
            <a:pPr marL="0" marR="0" lvl="0" indent="-114300" algn="l" rtl="0">
              <a:spcBef>
                <a:spcPts val="0"/>
              </a:spcBef>
              <a:spcAft>
                <a:spcPts val="0"/>
              </a:spcAft>
              <a:buClr>
                <a:schemeClr val="dk1"/>
              </a:buClr>
              <a:buSzPts val="1800"/>
              <a:buFont typeface="Arial"/>
              <a:buChar char="•"/>
            </a:pPr>
            <a:r>
              <a:rPr lang="en-IN" sz="1800">
                <a:solidFill>
                  <a:schemeClr val="dk1"/>
                </a:solidFill>
                <a:latin typeface="Calibri"/>
                <a:ea typeface="Calibri"/>
                <a:cs typeface="Calibri"/>
                <a:sym typeface="Calibri"/>
              </a:rPr>
              <a:t>Forgot password</a:t>
            </a:r>
            <a:endParaRPr/>
          </a:p>
          <a:p>
            <a:pPr marL="0" marR="0" lvl="0" indent="-114300" algn="l" rtl="0">
              <a:spcBef>
                <a:spcPts val="0"/>
              </a:spcBef>
              <a:spcAft>
                <a:spcPts val="0"/>
              </a:spcAft>
              <a:buClr>
                <a:schemeClr val="dk1"/>
              </a:buClr>
              <a:buSzPts val="1800"/>
              <a:buFont typeface="Arial"/>
              <a:buChar char="•"/>
            </a:pPr>
            <a:r>
              <a:rPr lang="en-IN" sz="1800">
                <a:solidFill>
                  <a:schemeClr val="dk1"/>
                </a:solidFill>
                <a:latin typeface="Calibri"/>
                <a:ea typeface="Calibri"/>
                <a:cs typeface="Calibri"/>
                <a:sym typeface="Calibri"/>
              </a:rPr>
              <a:t>Session management</a:t>
            </a:r>
            <a:endParaRPr/>
          </a:p>
          <a:p>
            <a:pPr marL="0" marR="0" lvl="0" indent="0" algn="l" rtl="0">
              <a:spcBef>
                <a:spcPts val="0"/>
              </a:spcBef>
              <a:spcAft>
                <a:spcPts val="0"/>
              </a:spcAft>
              <a:buNone/>
            </a:pPr>
            <a:r>
              <a:rPr lang="en-IN" sz="1800" b="1">
                <a:solidFill>
                  <a:schemeClr val="dk1"/>
                </a:solidFill>
                <a:latin typeface="Calibri"/>
                <a:ea typeface="Calibri"/>
                <a:cs typeface="Calibri"/>
                <a:sym typeface="Calibri"/>
              </a:rPr>
              <a:t>Enhanced Functionality</a:t>
            </a:r>
            <a:r>
              <a:rPr lang="en-IN" sz="1800">
                <a:solidFill>
                  <a:schemeClr val="dk1"/>
                </a:solidFill>
                <a:latin typeface="Calibri"/>
                <a:ea typeface="Calibri"/>
                <a:cs typeface="Calibri"/>
                <a:sym typeface="Calibri"/>
              </a:rPr>
              <a:t>:</a:t>
            </a:r>
            <a:endParaRPr/>
          </a:p>
          <a:p>
            <a:pPr marL="0" marR="0" lvl="0" indent="0" algn="l" rtl="0">
              <a:spcBef>
                <a:spcPts val="0"/>
              </a:spcBef>
              <a:spcAft>
                <a:spcPts val="0"/>
              </a:spcAft>
              <a:buNone/>
            </a:pPr>
            <a:r>
              <a:rPr lang="en-IN" sz="1800">
                <a:solidFill>
                  <a:schemeClr val="dk1"/>
                </a:solidFill>
                <a:latin typeface="Calibri"/>
                <a:ea typeface="Calibri"/>
                <a:cs typeface="Calibri"/>
                <a:sym typeface="Calibri"/>
              </a:rPr>
              <a:t>🔐 OTP-based login (email/phone)</a:t>
            </a:r>
            <a:endParaRPr/>
          </a:p>
          <a:p>
            <a:pPr marL="0" marR="0" lvl="0" indent="0" algn="l" rtl="0">
              <a:spcBef>
                <a:spcPts val="0"/>
              </a:spcBef>
              <a:spcAft>
                <a:spcPts val="0"/>
              </a:spcAft>
              <a:buNone/>
            </a:pPr>
            <a:r>
              <a:rPr lang="en-IN" sz="1800">
                <a:solidFill>
                  <a:schemeClr val="dk1"/>
                </a:solidFill>
                <a:latin typeface="Calibri"/>
                <a:ea typeface="Calibri"/>
                <a:cs typeface="Calibri"/>
                <a:sym typeface="Calibri"/>
              </a:rPr>
              <a:t>🔑 2-Factor Authentication for admin</a:t>
            </a:r>
            <a:endParaRPr/>
          </a:p>
          <a:p>
            <a:pPr marL="0" marR="0" lvl="0" indent="0" algn="l" rtl="0">
              <a:spcBef>
                <a:spcPts val="0"/>
              </a:spcBef>
              <a:spcAft>
                <a:spcPts val="0"/>
              </a:spcAft>
              <a:buNone/>
            </a:pPr>
            <a:r>
              <a:rPr lang="en-IN" sz="1800">
                <a:solidFill>
                  <a:schemeClr val="dk1"/>
                </a:solidFill>
                <a:latin typeface="Calibri"/>
                <a:ea typeface="Calibri"/>
                <a:cs typeface="Calibri"/>
                <a:sym typeface="Calibri"/>
              </a:rPr>
              <a:t>👥 User roles (user/admin)</a:t>
            </a:r>
            <a:endParaRPr/>
          </a:p>
          <a:p>
            <a:pPr marL="0" marR="0" lvl="0" indent="0" algn="l" rtl="0">
              <a:spcBef>
                <a:spcPts val="0"/>
              </a:spcBef>
              <a:spcAft>
                <a:spcPts val="0"/>
              </a:spcAft>
              <a:buNone/>
            </a:pPr>
            <a:r>
              <a:rPr lang="en-IN" sz="1800">
                <a:solidFill>
                  <a:schemeClr val="dk1"/>
                </a:solidFill>
                <a:latin typeface="Calibri"/>
                <a:ea typeface="Calibri"/>
                <a:cs typeface="Calibri"/>
                <a:sym typeface="Calibri"/>
              </a:rPr>
              <a:t>📧 Email verification before full access</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IN" sz="1800" b="1">
                <a:solidFill>
                  <a:schemeClr val="dk1"/>
                </a:solidFill>
                <a:latin typeface="Calibri"/>
                <a:ea typeface="Calibri"/>
                <a:cs typeface="Calibri"/>
                <a:sym typeface="Calibri"/>
              </a:rPr>
              <a:t>2. SOS Emergency Alert Module</a:t>
            </a:r>
            <a:endParaRPr/>
          </a:p>
          <a:p>
            <a:pPr marL="0" marR="0" lvl="0" indent="0" algn="l" rtl="0">
              <a:spcBef>
                <a:spcPts val="0"/>
              </a:spcBef>
              <a:spcAft>
                <a:spcPts val="0"/>
              </a:spcAft>
              <a:buNone/>
            </a:pPr>
            <a:r>
              <a:rPr lang="en-IN" sz="1800" b="1">
                <a:solidFill>
                  <a:schemeClr val="dk1"/>
                </a:solidFill>
                <a:latin typeface="Calibri"/>
                <a:ea typeface="Calibri"/>
                <a:cs typeface="Calibri"/>
                <a:sym typeface="Calibri"/>
              </a:rPr>
              <a:t>Purpose</a:t>
            </a:r>
            <a:r>
              <a:rPr lang="en-IN" sz="1800">
                <a:solidFill>
                  <a:schemeClr val="dk1"/>
                </a:solidFill>
                <a:latin typeface="Calibri"/>
                <a:ea typeface="Calibri"/>
                <a:cs typeface="Calibri"/>
                <a:sym typeface="Calibri"/>
              </a:rPr>
              <a:t>: Sends real-time alerts with location.</a:t>
            </a:r>
            <a:br>
              <a:rPr lang="en-IN" sz="1800">
                <a:solidFill>
                  <a:schemeClr val="dk1"/>
                </a:solidFill>
                <a:latin typeface="Calibri"/>
                <a:ea typeface="Calibri"/>
                <a:cs typeface="Calibri"/>
                <a:sym typeface="Calibri"/>
              </a:rPr>
            </a:br>
            <a:r>
              <a:rPr lang="en-IN" sz="1800" b="1">
                <a:solidFill>
                  <a:schemeClr val="dk1"/>
                </a:solidFill>
                <a:latin typeface="Calibri"/>
                <a:ea typeface="Calibri"/>
                <a:cs typeface="Calibri"/>
                <a:sym typeface="Calibri"/>
              </a:rPr>
              <a:t>Tools Used</a:t>
            </a:r>
            <a:r>
              <a:rPr lang="en-IN" sz="1800">
                <a:solidFill>
                  <a:schemeClr val="dk1"/>
                </a:solidFill>
                <a:latin typeface="Calibri"/>
                <a:ea typeface="Calibri"/>
                <a:cs typeface="Calibri"/>
                <a:sym typeface="Calibri"/>
              </a:rPr>
              <a:t>: SMS Manager API, GPS</a:t>
            </a:r>
            <a:br>
              <a:rPr lang="en-IN" sz="1800">
                <a:solidFill>
                  <a:schemeClr val="dk1"/>
                </a:solidFill>
                <a:latin typeface="Calibri"/>
                <a:ea typeface="Calibri"/>
                <a:cs typeface="Calibri"/>
                <a:sym typeface="Calibri"/>
              </a:rPr>
            </a:br>
            <a:r>
              <a:rPr lang="en-IN" sz="1800" b="1">
                <a:solidFill>
                  <a:schemeClr val="dk1"/>
                </a:solidFill>
                <a:latin typeface="Calibri"/>
                <a:ea typeface="Calibri"/>
                <a:cs typeface="Calibri"/>
                <a:sym typeface="Calibri"/>
              </a:rPr>
              <a:t>Basic Features</a:t>
            </a:r>
            <a:r>
              <a:rPr lang="en-IN" sz="1800">
                <a:solidFill>
                  <a:schemeClr val="dk1"/>
                </a:solidFill>
                <a:latin typeface="Calibri"/>
                <a:ea typeface="Calibri"/>
                <a:cs typeface="Calibri"/>
                <a:sym typeface="Calibri"/>
              </a:rPr>
              <a:t>:</a:t>
            </a:r>
            <a:endParaRPr/>
          </a:p>
          <a:p>
            <a:pPr marL="0" marR="0" lvl="0" indent="0" algn="l" rtl="0">
              <a:spcBef>
                <a:spcPts val="0"/>
              </a:spcBef>
              <a:spcAft>
                <a:spcPts val="0"/>
              </a:spcAft>
              <a:buNone/>
            </a:pPr>
            <a:r>
              <a:rPr lang="en-IN" sz="1800">
                <a:solidFill>
                  <a:schemeClr val="dk1"/>
                </a:solidFill>
                <a:latin typeface="Calibri"/>
                <a:ea typeface="Calibri"/>
                <a:cs typeface="Calibri"/>
                <a:sym typeface="Calibri"/>
              </a:rPr>
              <a:t>One-tap SOS trigger</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18"/>
          <p:cNvSpPr txBox="1"/>
          <p:nvPr/>
        </p:nvSpPr>
        <p:spPr>
          <a:xfrm>
            <a:off x="539552" y="692696"/>
            <a:ext cx="8280900" cy="6003000"/>
          </a:xfrm>
          <a:prstGeom prst="rect">
            <a:avLst/>
          </a:prstGeom>
          <a:noFill/>
          <a:ln>
            <a:noFill/>
          </a:ln>
        </p:spPr>
        <p:txBody>
          <a:bodyPr spcFirstLastPara="1" wrap="square" lIns="91425" tIns="45700" rIns="91425" bIns="45700" anchor="t" anchorCtr="0">
            <a:spAutoFit/>
          </a:bodyPr>
          <a:lstStyle/>
          <a:p>
            <a:pPr marL="0" marR="0" lvl="0" indent="-114300" algn="l" rtl="0">
              <a:spcBef>
                <a:spcPts val="0"/>
              </a:spcBef>
              <a:spcAft>
                <a:spcPts val="0"/>
              </a:spcAft>
              <a:buClr>
                <a:schemeClr val="dk1"/>
              </a:buClr>
              <a:buSzPts val="1800"/>
              <a:buFont typeface="Arial"/>
              <a:buChar char="•"/>
            </a:pPr>
            <a:r>
              <a:rPr lang="en-IN" sz="1800">
                <a:solidFill>
                  <a:schemeClr val="dk1"/>
                </a:solidFill>
                <a:latin typeface="Calibri"/>
                <a:ea typeface="Calibri"/>
                <a:cs typeface="Calibri"/>
                <a:sym typeface="Calibri"/>
              </a:rPr>
              <a:t>Sends Google Maps location</a:t>
            </a:r>
            <a:endParaRPr/>
          </a:p>
          <a:p>
            <a:pPr marL="0" marR="0" lvl="0" indent="-114300" algn="l" rtl="0">
              <a:spcBef>
                <a:spcPts val="0"/>
              </a:spcBef>
              <a:spcAft>
                <a:spcPts val="0"/>
              </a:spcAft>
              <a:buClr>
                <a:schemeClr val="dk1"/>
              </a:buClr>
              <a:buSzPts val="1800"/>
              <a:buFont typeface="Arial"/>
              <a:buChar char="•"/>
            </a:pPr>
            <a:r>
              <a:rPr lang="en-IN" sz="1800">
                <a:solidFill>
                  <a:schemeClr val="dk1"/>
                </a:solidFill>
                <a:latin typeface="Calibri"/>
                <a:ea typeface="Calibri"/>
                <a:cs typeface="Calibri"/>
                <a:sym typeface="Calibri"/>
              </a:rPr>
              <a:t>Offline SMS support</a:t>
            </a:r>
            <a:endParaRPr/>
          </a:p>
          <a:p>
            <a:pPr marL="0" marR="0" lvl="0" indent="0" algn="l" rtl="0">
              <a:spcBef>
                <a:spcPts val="0"/>
              </a:spcBef>
              <a:spcAft>
                <a:spcPts val="0"/>
              </a:spcAft>
              <a:buClr>
                <a:schemeClr val="dk1"/>
              </a:buClr>
              <a:buSzPts val="1800"/>
              <a:buFont typeface="Calibri"/>
              <a:buNone/>
            </a:pPr>
            <a:r>
              <a:rPr lang="en-IN" sz="1800" b="1">
                <a:solidFill>
                  <a:schemeClr val="dk1"/>
                </a:solidFill>
                <a:latin typeface="Calibri"/>
                <a:ea typeface="Calibri"/>
                <a:cs typeface="Calibri"/>
                <a:sym typeface="Calibri"/>
              </a:rPr>
              <a:t>Enhanced Functionality</a:t>
            </a:r>
            <a:r>
              <a:rPr lang="en-IN" sz="1800">
                <a:solidFill>
                  <a:schemeClr val="dk1"/>
                </a:solidFill>
                <a:latin typeface="Calibri"/>
                <a:ea typeface="Calibri"/>
                <a:cs typeface="Calibri"/>
                <a:sym typeface="Calibri"/>
              </a:rPr>
              <a:t>:</a:t>
            </a:r>
            <a:endParaRPr/>
          </a:p>
          <a:p>
            <a:pPr marL="0" marR="0" lvl="0" indent="-114300" algn="l" rtl="0">
              <a:spcBef>
                <a:spcPts val="0"/>
              </a:spcBef>
              <a:spcAft>
                <a:spcPts val="0"/>
              </a:spcAft>
              <a:buClr>
                <a:schemeClr val="dk1"/>
              </a:buClr>
              <a:buSzPts val="1800"/>
              <a:buFont typeface="Arial"/>
              <a:buChar char="•"/>
            </a:pPr>
            <a:r>
              <a:rPr lang="en-IN" sz="1800">
                <a:solidFill>
                  <a:schemeClr val="dk1"/>
                </a:solidFill>
                <a:latin typeface="Calibri"/>
                <a:ea typeface="Calibri"/>
                <a:cs typeface="Calibri"/>
                <a:sym typeface="Calibri"/>
              </a:rPr>
              <a:t>🕹️ Power button long-press trigger (mobile app)</a:t>
            </a:r>
            <a:endParaRPr/>
          </a:p>
          <a:p>
            <a:pPr marL="0" marR="0" lvl="0" indent="-114300" algn="l" rtl="0">
              <a:spcBef>
                <a:spcPts val="0"/>
              </a:spcBef>
              <a:spcAft>
                <a:spcPts val="0"/>
              </a:spcAft>
              <a:buClr>
                <a:schemeClr val="dk1"/>
              </a:buClr>
              <a:buSzPts val="1800"/>
              <a:buFont typeface="Arial"/>
              <a:buChar char="•"/>
            </a:pPr>
            <a:r>
              <a:rPr lang="en-IN" sz="1800">
                <a:solidFill>
                  <a:schemeClr val="dk1"/>
                </a:solidFill>
                <a:latin typeface="Calibri"/>
                <a:ea typeface="Calibri"/>
                <a:cs typeface="Calibri"/>
                <a:sym typeface="Calibri"/>
              </a:rPr>
              <a:t>📷 Auto image capture via front cam</a:t>
            </a:r>
            <a:endParaRPr/>
          </a:p>
          <a:p>
            <a:pPr marL="0" marR="0" lvl="0" indent="-114300" algn="l" rtl="0">
              <a:spcBef>
                <a:spcPts val="0"/>
              </a:spcBef>
              <a:spcAft>
                <a:spcPts val="0"/>
              </a:spcAft>
              <a:buClr>
                <a:schemeClr val="dk1"/>
              </a:buClr>
              <a:buSzPts val="1800"/>
              <a:buFont typeface="Arial"/>
              <a:buChar char="•"/>
            </a:pPr>
            <a:r>
              <a:rPr lang="en-IN" sz="1800">
                <a:solidFill>
                  <a:schemeClr val="dk1"/>
                </a:solidFill>
                <a:latin typeface="Calibri"/>
                <a:ea typeface="Calibri"/>
                <a:cs typeface="Calibri"/>
                <a:sym typeface="Calibri"/>
              </a:rPr>
              <a:t>🔄 Retry alert if SMS fails</a:t>
            </a:r>
            <a:endParaRPr/>
          </a:p>
          <a:p>
            <a:pPr marL="0" marR="0" lvl="0" indent="-114300" algn="l" rtl="0">
              <a:spcBef>
                <a:spcPts val="0"/>
              </a:spcBef>
              <a:spcAft>
                <a:spcPts val="0"/>
              </a:spcAft>
              <a:buClr>
                <a:schemeClr val="dk1"/>
              </a:buClr>
              <a:buSzPts val="1800"/>
              <a:buFont typeface="Arial"/>
              <a:buChar char="•"/>
            </a:pPr>
            <a:r>
              <a:rPr lang="en-IN" sz="1800">
                <a:solidFill>
                  <a:schemeClr val="dk1"/>
                </a:solidFill>
                <a:latin typeface="Calibri"/>
                <a:ea typeface="Calibri"/>
                <a:cs typeface="Calibri"/>
                <a:sym typeface="Calibri"/>
              </a:rPr>
              <a:t>⏳ Cooldown timer to prevent multiple triggers</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IN" sz="1800" b="1">
                <a:solidFill>
                  <a:schemeClr val="dk1"/>
                </a:solidFill>
                <a:latin typeface="Calibri"/>
                <a:ea typeface="Calibri"/>
                <a:cs typeface="Calibri"/>
                <a:sym typeface="Calibri"/>
              </a:rPr>
              <a:t>3. </a:t>
            </a:r>
            <a:r>
              <a:rPr lang="en-IN" sz="2400" b="1">
                <a:solidFill>
                  <a:schemeClr val="dk1"/>
                </a:solidFill>
                <a:latin typeface="Calibri"/>
                <a:ea typeface="Calibri"/>
                <a:cs typeface="Calibri"/>
                <a:sym typeface="Calibri"/>
              </a:rPr>
              <a:t>Location Tracking Module</a:t>
            </a:r>
            <a:endParaRPr/>
          </a:p>
          <a:p>
            <a:pPr marL="0" marR="0" lvl="0" indent="0" algn="l" rtl="0">
              <a:spcBef>
                <a:spcPts val="0"/>
              </a:spcBef>
              <a:spcAft>
                <a:spcPts val="0"/>
              </a:spcAft>
              <a:buNone/>
            </a:pPr>
            <a:r>
              <a:rPr lang="en-IN" sz="1800" b="1">
                <a:solidFill>
                  <a:schemeClr val="dk1"/>
                </a:solidFill>
                <a:latin typeface="Calibri"/>
                <a:ea typeface="Calibri"/>
                <a:cs typeface="Calibri"/>
                <a:sym typeface="Calibri"/>
              </a:rPr>
              <a:t>Purpose</a:t>
            </a:r>
            <a:r>
              <a:rPr lang="en-IN" sz="1800">
                <a:solidFill>
                  <a:schemeClr val="dk1"/>
                </a:solidFill>
                <a:latin typeface="Calibri"/>
                <a:ea typeface="Calibri"/>
                <a:cs typeface="Calibri"/>
                <a:sym typeface="Calibri"/>
              </a:rPr>
              <a:t>: Monitors real-time location.</a:t>
            </a:r>
            <a:br>
              <a:rPr lang="en-IN" sz="1800">
                <a:solidFill>
                  <a:schemeClr val="dk1"/>
                </a:solidFill>
                <a:latin typeface="Calibri"/>
                <a:ea typeface="Calibri"/>
                <a:cs typeface="Calibri"/>
                <a:sym typeface="Calibri"/>
              </a:rPr>
            </a:br>
            <a:r>
              <a:rPr lang="en-IN" sz="1800" b="1">
                <a:solidFill>
                  <a:schemeClr val="dk1"/>
                </a:solidFill>
                <a:latin typeface="Calibri"/>
                <a:ea typeface="Calibri"/>
                <a:cs typeface="Calibri"/>
                <a:sym typeface="Calibri"/>
              </a:rPr>
              <a:t>Tools Used</a:t>
            </a:r>
            <a:r>
              <a:rPr lang="en-IN" sz="1800">
                <a:solidFill>
                  <a:schemeClr val="dk1"/>
                </a:solidFill>
                <a:latin typeface="Calibri"/>
                <a:ea typeface="Calibri"/>
                <a:cs typeface="Calibri"/>
                <a:sym typeface="Calibri"/>
              </a:rPr>
              <a:t>: FusedLocationProvider Client</a:t>
            </a:r>
            <a:br>
              <a:rPr lang="en-IN" sz="1800">
                <a:solidFill>
                  <a:schemeClr val="dk1"/>
                </a:solidFill>
                <a:latin typeface="Calibri"/>
                <a:ea typeface="Calibri"/>
                <a:cs typeface="Calibri"/>
                <a:sym typeface="Calibri"/>
              </a:rPr>
            </a:br>
            <a:r>
              <a:rPr lang="en-IN" sz="1800" b="1">
                <a:solidFill>
                  <a:schemeClr val="dk1"/>
                </a:solidFill>
                <a:latin typeface="Calibri"/>
                <a:ea typeface="Calibri"/>
                <a:cs typeface="Calibri"/>
                <a:sym typeface="Calibri"/>
              </a:rPr>
              <a:t>Basic Features</a:t>
            </a:r>
            <a:r>
              <a:rPr lang="en-IN" sz="1800">
                <a:solidFill>
                  <a:schemeClr val="dk1"/>
                </a:solidFill>
                <a:latin typeface="Calibri"/>
                <a:ea typeface="Calibri"/>
                <a:cs typeface="Calibri"/>
                <a:sym typeface="Calibri"/>
              </a:rPr>
              <a:t>:</a:t>
            </a:r>
            <a:endParaRPr/>
          </a:p>
          <a:p>
            <a:pPr marL="0" marR="0" lvl="0" indent="0" algn="l" rtl="0">
              <a:spcBef>
                <a:spcPts val="0"/>
              </a:spcBef>
              <a:spcAft>
                <a:spcPts val="0"/>
              </a:spcAft>
              <a:buNone/>
            </a:pPr>
            <a:r>
              <a:rPr lang="en-IN" sz="1800">
                <a:solidFill>
                  <a:schemeClr val="dk1"/>
                </a:solidFill>
                <a:latin typeface="Calibri"/>
                <a:ea typeface="Calibri"/>
                <a:cs typeface="Calibri"/>
                <a:sym typeface="Calibri"/>
              </a:rPr>
              <a:t>Live location tracking</a:t>
            </a:r>
            <a:endParaRPr/>
          </a:p>
          <a:p>
            <a:pPr marL="0" marR="0" lvl="0" indent="0" algn="l" rtl="0">
              <a:spcBef>
                <a:spcPts val="0"/>
              </a:spcBef>
              <a:spcAft>
                <a:spcPts val="0"/>
              </a:spcAft>
              <a:buNone/>
            </a:pPr>
            <a:r>
              <a:rPr lang="en-IN" sz="1800">
                <a:solidFill>
                  <a:schemeClr val="dk1"/>
                </a:solidFill>
                <a:latin typeface="Calibri"/>
                <a:ea typeface="Calibri"/>
                <a:cs typeface="Calibri"/>
                <a:sym typeface="Calibri"/>
              </a:rPr>
              <a:t>GPS-based location sharing</a:t>
            </a:r>
            <a:endParaRPr/>
          </a:p>
          <a:p>
            <a:pPr marL="0" marR="0" lvl="0" indent="0" algn="l" rtl="0">
              <a:spcBef>
                <a:spcPts val="0"/>
              </a:spcBef>
              <a:spcAft>
                <a:spcPts val="0"/>
              </a:spcAft>
              <a:buNone/>
            </a:pPr>
            <a:r>
              <a:rPr lang="en-IN" sz="1800">
                <a:solidFill>
                  <a:schemeClr val="dk1"/>
                </a:solidFill>
                <a:latin typeface="Calibri"/>
                <a:ea typeface="Calibri"/>
                <a:cs typeface="Calibri"/>
                <a:sym typeface="Calibri"/>
              </a:rPr>
              <a:t>Battery optimization</a:t>
            </a:r>
            <a:endParaRPr/>
          </a:p>
          <a:p>
            <a:pPr marL="0" marR="0" lvl="0" indent="0" algn="l" rtl="0">
              <a:spcBef>
                <a:spcPts val="0"/>
              </a:spcBef>
              <a:spcAft>
                <a:spcPts val="0"/>
              </a:spcAft>
              <a:buNone/>
            </a:pPr>
            <a:r>
              <a:rPr lang="en-IN" sz="1800" b="1">
                <a:solidFill>
                  <a:schemeClr val="dk1"/>
                </a:solidFill>
                <a:latin typeface="Calibri"/>
                <a:ea typeface="Calibri"/>
                <a:cs typeface="Calibri"/>
                <a:sym typeface="Calibri"/>
              </a:rPr>
              <a:t>Enhanced Functionality</a:t>
            </a:r>
            <a:r>
              <a:rPr lang="en-IN" sz="1800">
                <a:solidFill>
                  <a:schemeClr val="dk1"/>
                </a:solidFill>
                <a:latin typeface="Calibri"/>
                <a:ea typeface="Calibri"/>
                <a:cs typeface="Calibri"/>
                <a:sym typeface="Calibri"/>
              </a:rPr>
              <a:t>:</a:t>
            </a:r>
            <a:endParaRPr/>
          </a:p>
          <a:p>
            <a:pPr marL="0" marR="0" lvl="0" indent="0" algn="l" rtl="0">
              <a:spcBef>
                <a:spcPts val="0"/>
              </a:spcBef>
              <a:spcAft>
                <a:spcPts val="0"/>
              </a:spcAft>
              <a:buNone/>
            </a:pPr>
            <a:r>
              <a:rPr lang="en-IN" sz="1800">
                <a:solidFill>
                  <a:schemeClr val="dk1"/>
                </a:solidFill>
                <a:latin typeface="Calibri"/>
                <a:ea typeface="Calibri"/>
                <a:cs typeface="Calibri"/>
                <a:sym typeface="Calibri"/>
              </a:rPr>
              <a:t>🗺️ Route mapping (with polyline)</a:t>
            </a:r>
            <a:endParaRPr/>
          </a:p>
          <a:p>
            <a:pPr marL="0" marR="0" lvl="0" indent="0" algn="l" rtl="0">
              <a:spcBef>
                <a:spcPts val="0"/>
              </a:spcBef>
              <a:spcAft>
                <a:spcPts val="0"/>
              </a:spcAft>
              <a:buNone/>
            </a:pPr>
            <a:r>
              <a:rPr lang="en-IN" sz="1800">
                <a:solidFill>
                  <a:schemeClr val="dk1"/>
                </a:solidFill>
                <a:latin typeface="Calibri"/>
                <a:ea typeface="Calibri"/>
                <a:cs typeface="Calibri"/>
                <a:sym typeface="Calibri"/>
              </a:rPr>
              <a:t>🧾 Periodic location log to Firebase</a:t>
            </a:r>
            <a:endParaRPr/>
          </a:p>
          <a:p>
            <a:pPr marL="0" marR="0" lvl="0" indent="0" algn="l" rtl="0">
              <a:spcBef>
                <a:spcPts val="0"/>
              </a:spcBef>
              <a:spcAft>
                <a:spcPts val="0"/>
              </a:spcAft>
              <a:buNone/>
            </a:pPr>
            <a:r>
              <a:rPr lang="en-IN" sz="1800">
                <a:solidFill>
                  <a:schemeClr val="dk1"/>
                </a:solidFill>
                <a:latin typeface="Calibri"/>
                <a:ea typeface="Calibri"/>
                <a:cs typeface="Calibri"/>
                <a:sym typeface="Calibri"/>
              </a:rPr>
              <a:t>🚧 Geo-fence alerts (enter/exit safe zone)</a:t>
            </a:r>
            <a:endParaRPr/>
          </a:p>
          <a:p>
            <a:pPr marL="0" marR="0" lvl="0" indent="0" algn="l" rtl="0">
              <a:spcBef>
                <a:spcPts val="0"/>
              </a:spcBef>
              <a:spcAft>
                <a:spcPts val="0"/>
              </a:spcAft>
              <a:buNone/>
            </a:pPr>
            <a:r>
              <a:rPr lang="en-IN" sz="1800">
                <a:solidFill>
                  <a:schemeClr val="dk1"/>
                </a:solidFill>
                <a:latin typeface="Calibri"/>
                <a:ea typeface="Calibri"/>
                <a:cs typeface="Calibri"/>
                <a:sym typeface="Calibri"/>
              </a:rPr>
              <a:t>🛰️ Save last location on signal loss</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p19"/>
          <p:cNvSpPr txBox="1"/>
          <p:nvPr/>
        </p:nvSpPr>
        <p:spPr>
          <a:xfrm>
            <a:off x="467544" y="548680"/>
            <a:ext cx="7848872" cy="58169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800"/>
              <a:buFont typeface="Calibri"/>
              <a:buNone/>
            </a:pPr>
            <a:r>
              <a:rPr lang="en-IN" sz="1800" b="1">
                <a:solidFill>
                  <a:schemeClr val="dk1"/>
                </a:solidFill>
                <a:latin typeface="Calibri"/>
                <a:ea typeface="Calibri"/>
                <a:cs typeface="Calibri"/>
                <a:sym typeface="Calibri"/>
              </a:rPr>
              <a:t>4</a:t>
            </a:r>
            <a:r>
              <a:rPr lang="en-IN" sz="2400" b="1">
                <a:solidFill>
                  <a:schemeClr val="dk1"/>
                </a:solidFill>
                <a:latin typeface="Calibri"/>
                <a:ea typeface="Calibri"/>
                <a:cs typeface="Calibri"/>
                <a:sym typeface="Calibri"/>
              </a:rPr>
              <a:t>. Audio Recording Module</a:t>
            </a:r>
            <a:endParaRPr/>
          </a:p>
          <a:p>
            <a:pPr marL="0" marR="0" lvl="0" indent="0" algn="l" rtl="0">
              <a:spcBef>
                <a:spcPts val="0"/>
              </a:spcBef>
              <a:spcAft>
                <a:spcPts val="0"/>
              </a:spcAft>
              <a:buClr>
                <a:schemeClr val="dk1"/>
              </a:buClr>
              <a:buSzPts val="1800"/>
              <a:buFont typeface="Calibri"/>
              <a:buNone/>
            </a:pPr>
            <a:r>
              <a:rPr lang="en-IN" sz="1800" b="1">
                <a:solidFill>
                  <a:schemeClr val="dk1"/>
                </a:solidFill>
                <a:latin typeface="Calibri"/>
                <a:ea typeface="Calibri"/>
                <a:cs typeface="Calibri"/>
                <a:sym typeface="Calibri"/>
              </a:rPr>
              <a:t>Purpose</a:t>
            </a:r>
            <a:r>
              <a:rPr lang="en-IN" sz="1800">
                <a:solidFill>
                  <a:schemeClr val="dk1"/>
                </a:solidFill>
                <a:latin typeface="Calibri"/>
                <a:ea typeface="Calibri"/>
                <a:cs typeface="Calibri"/>
                <a:sym typeface="Calibri"/>
              </a:rPr>
              <a:t>: Records evidence in emergencies.</a:t>
            </a:r>
            <a:br>
              <a:rPr lang="en-IN" sz="1800">
                <a:solidFill>
                  <a:schemeClr val="dk1"/>
                </a:solidFill>
                <a:latin typeface="Calibri"/>
                <a:ea typeface="Calibri"/>
                <a:cs typeface="Calibri"/>
                <a:sym typeface="Calibri"/>
              </a:rPr>
            </a:br>
            <a:r>
              <a:rPr lang="en-IN" sz="1800" b="1">
                <a:solidFill>
                  <a:schemeClr val="dk1"/>
                </a:solidFill>
                <a:latin typeface="Calibri"/>
                <a:ea typeface="Calibri"/>
                <a:cs typeface="Calibri"/>
                <a:sym typeface="Calibri"/>
              </a:rPr>
              <a:t>Tools Used</a:t>
            </a:r>
            <a:r>
              <a:rPr lang="en-IN" sz="1800">
                <a:solidFill>
                  <a:schemeClr val="dk1"/>
                </a:solidFill>
                <a:latin typeface="Calibri"/>
                <a:ea typeface="Calibri"/>
                <a:cs typeface="Calibri"/>
                <a:sym typeface="Calibri"/>
              </a:rPr>
              <a:t>: MediaRecorder API</a:t>
            </a:r>
            <a:br>
              <a:rPr lang="en-IN" sz="1800">
                <a:solidFill>
                  <a:schemeClr val="dk1"/>
                </a:solidFill>
                <a:latin typeface="Calibri"/>
                <a:ea typeface="Calibri"/>
                <a:cs typeface="Calibri"/>
                <a:sym typeface="Calibri"/>
              </a:rPr>
            </a:br>
            <a:r>
              <a:rPr lang="en-IN" sz="1800" b="1">
                <a:solidFill>
                  <a:schemeClr val="dk1"/>
                </a:solidFill>
                <a:latin typeface="Calibri"/>
                <a:ea typeface="Calibri"/>
                <a:cs typeface="Calibri"/>
                <a:sym typeface="Calibri"/>
              </a:rPr>
              <a:t>Basic Features</a:t>
            </a:r>
            <a:r>
              <a:rPr lang="en-IN" sz="1800">
                <a:solidFill>
                  <a:schemeClr val="dk1"/>
                </a:solidFill>
                <a:latin typeface="Calibri"/>
                <a:ea typeface="Calibri"/>
                <a:cs typeface="Calibri"/>
                <a:sym typeface="Calibri"/>
              </a:rPr>
              <a:t>:</a:t>
            </a:r>
            <a:endParaRPr/>
          </a:p>
          <a:p>
            <a:pPr marL="0" marR="0" lvl="0" indent="-114300" algn="l" rtl="0">
              <a:spcBef>
                <a:spcPts val="0"/>
              </a:spcBef>
              <a:spcAft>
                <a:spcPts val="0"/>
              </a:spcAft>
              <a:buClr>
                <a:schemeClr val="dk1"/>
              </a:buClr>
              <a:buSzPts val="1800"/>
              <a:buFont typeface="Arial"/>
              <a:buChar char="•"/>
            </a:pPr>
            <a:r>
              <a:rPr lang="en-IN" sz="1800">
                <a:solidFill>
                  <a:schemeClr val="dk1"/>
                </a:solidFill>
                <a:latin typeface="Calibri"/>
                <a:ea typeface="Calibri"/>
                <a:cs typeface="Calibri"/>
                <a:sym typeface="Calibri"/>
              </a:rPr>
              <a:t>One-click audio record</a:t>
            </a:r>
            <a:endParaRPr/>
          </a:p>
          <a:p>
            <a:pPr marL="0" marR="0" lvl="0" indent="-114300" algn="l" rtl="0">
              <a:spcBef>
                <a:spcPts val="0"/>
              </a:spcBef>
              <a:spcAft>
                <a:spcPts val="0"/>
              </a:spcAft>
              <a:buClr>
                <a:schemeClr val="dk1"/>
              </a:buClr>
              <a:buSzPts val="1800"/>
              <a:buFont typeface="Arial"/>
              <a:buChar char="•"/>
            </a:pPr>
            <a:r>
              <a:rPr lang="en-IN" sz="1800">
                <a:solidFill>
                  <a:schemeClr val="dk1"/>
                </a:solidFill>
                <a:latin typeface="Calibri"/>
                <a:ea typeface="Calibri"/>
                <a:cs typeface="Calibri"/>
                <a:sym typeface="Calibri"/>
              </a:rPr>
              <a:t>Local file storage</a:t>
            </a:r>
            <a:endParaRPr/>
          </a:p>
          <a:p>
            <a:pPr marL="0" marR="0" lvl="0" indent="0" algn="l" rtl="0">
              <a:spcBef>
                <a:spcPts val="0"/>
              </a:spcBef>
              <a:spcAft>
                <a:spcPts val="0"/>
              </a:spcAft>
              <a:buClr>
                <a:schemeClr val="dk1"/>
              </a:buClr>
              <a:buSzPts val="1800"/>
              <a:buFont typeface="Calibri"/>
              <a:buNone/>
            </a:pPr>
            <a:r>
              <a:rPr lang="en-IN" sz="1800" b="1">
                <a:solidFill>
                  <a:schemeClr val="dk1"/>
                </a:solidFill>
                <a:latin typeface="Calibri"/>
                <a:ea typeface="Calibri"/>
                <a:cs typeface="Calibri"/>
                <a:sym typeface="Calibri"/>
              </a:rPr>
              <a:t>Enhanced Functionality</a:t>
            </a:r>
            <a:r>
              <a:rPr lang="en-IN" sz="1800">
                <a:solidFill>
                  <a:schemeClr val="dk1"/>
                </a:solidFill>
                <a:latin typeface="Calibri"/>
                <a:ea typeface="Calibri"/>
                <a:cs typeface="Calibri"/>
                <a:sym typeface="Calibri"/>
              </a:rPr>
              <a:t>:</a:t>
            </a:r>
            <a:endParaRPr/>
          </a:p>
          <a:p>
            <a:pPr marL="0" marR="0" lvl="0" indent="-114300" algn="l" rtl="0">
              <a:spcBef>
                <a:spcPts val="0"/>
              </a:spcBef>
              <a:spcAft>
                <a:spcPts val="0"/>
              </a:spcAft>
              <a:buClr>
                <a:schemeClr val="dk1"/>
              </a:buClr>
              <a:buSzPts val="1800"/>
              <a:buFont typeface="Arial"/>
              <a:buChar char="•"/>
            </a:pPr>
            <a:r>
              <a:rPr lang="en-IN" sz="1800">
                <a:solidFill>
                  <a:schemeClr val="dk1"/>
                </a:solidFill>
                <a:latin typeface="Calibri"/>
                <a:ea typeface="Calibri"/>
                <a:cs typeface="Calibri"/>
                <a:sym typeface="Calibri"/>
              </a:rPr>
              <a:t>⏱️ Timed recording (30-60 secs)</a:t>
            </a:r>
            <a:endParaRPr/>
          </a:p>
          <a:p>
            <a:pPr marL="0" marR="0" lvl="0" indent="-114300" algn="l" rtl="0">
              <a:spcBef>
                <a:spcPts val="0"/>
              </a:spcBef>
              <a:spcAft>
                <a:spcPts val="0"/>
              </a:spcAft>
              <a:buClr>
                <a:schemeClr val="dk1"/>
              </a:buClr>
              <a:buSzPts val="1800"/>
              <a:buFont typeface="Arial"/>
              <a:buChar char="•"/>
            </a:pPr>
            <a:r>
              <a:rPr lang="en-IN" sz="1800">
                <a:solidFill>
                  <a:schemeClr val="dk1"/>
                </a:solidFill>
                <a:latin typeface="Calibri"/>
                <a:ea typeface="Calibri"/>
                <a:cs typeface="Calibri"/>
                <a:sym typeface="Calibri"/>
              </a:rPr>
              <a:t>☁️ Upload to Firebase + share link</a:t>
            </a:r>
            <a:endParaRPr/>
          </a:p>
          <a:p>
            <a:pPr marL="0" marR="0" lvl="0" indent="-114300" algn="l" rtl="0">
              <a:spcBef>
                <a:spcPts val="0"/>
              </a:spcBef>
              <a:spcAft>
                <a:spcPts val="0"/>
              </a:spcAft>
              <a:buClr>
                <a:schemeClr val="dk1"/>
              </a:buClr>
              <a:buSzPts val="1800"/>
              <a:buFont typeface="Arial"/>
              <a:buChar char="•"/>
            </a:pPr>
            <a:r>
              <a:rPr lang="en-IN" sz="1800">
                <a:solidFill>
                  <a:schemeClr val="dk1"/>
                </a:solidFill>
                <a:latin typeface="Calibri"/>
                <a:ea typeface="Calibri"/>
                <a:cs typeface="Calibri"/>
                <a:sym typeface="Calibri"/>
              </a:rPr>
              <a:t>🔊 Background audio capture</a:t>
            </a:r>
            <a:endParaRPr/>
          </a:p>
          <a:p>
            <a:pPr marL="0" marR="0" lvl="0" indent="-114300" algn="l" rtl="0">
              <a:spcBef>
                <a:spcPts val="0"/>
              </a:spcBef>
              <a:spcAft>
                <a:spcPts val="0"/>
              </a:spcAft>
              <a:buClr>
                <a:schemeClr val="dk1"/>
              </a:buClr>
              <a:buSzPts val="1800"/>
              <a:buFont typeface="Arial"/>
              <a:buChar char="•"/>
            </a:pPr>
            <a:r>
              <a:rPr lang="en-IN" sz="1800">
                <a:solidFill>
                  <a:schemeClr val="dk1"/>
                </a:solidFill>
                <a:latin typeface="Calibri"/>
                <a:ea typeface="Calibri"/>
                <a:cs typeface="Calibri"/>
                <a:sym typeface="Calibri"/>
              </a:rPr>
              <a:t>🔐 File encryption before upload</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IN" sz="1800" b="1">
                <a:solidFill>
                  <a:schemeClr val="dk1"/>
                </a:solidFill>
                <a:latin typeface="Calibri"/>
                <a:ea typeface="Calibri"/>
                <a:cs typeface="Calibri"/>
                <a:sym typeface="Calibri"/>
              </a:rPr>
              <a:t>5</a:t>
            </a:r>
            <a:r>
              <a:rPr lang="en-IN" sz="2400" b="1">
                <a:solidFill>
                  <a:schemeClr val="dk1"/>
                </a:solidFill>
                <a:latin typeface="Calibri"/>
                <a:ea typeface="Calibri"/>
                <a:cs typeface="Calibri"/>
                <a:sym typeface="Calibri"/>
              </a:rPr>
              <a:t>. Video Recording Module</a:t>
            </a:r>
            <a:endParaRPr/>
          </a:p>
          <a:p>
            <a:pPr marL="0" marR="0" lvl="0" indent="0" algn="l" rtl="0">
              <a:spcBef>
                <a:spcPts val="0"/>
              </a:spcBef>
              <a:spcAft>
                <a:spcPts val="0"/>
              </a:spcAft>
              <a:buNone/>
            </a:pPr>
            <a:r>
              <a:rPr lang="en-IN" sz="1800" b="1">
                <a:solidFill>
                  <a:schemeClr val="dk1"/>
                </a:solidFill>
                <a:latin typeface="Calibri"/>
                <a:ea typeface="Calibri"/>
                <a:cs typeface="Calibri"/>
                <a:sym typeface="Calibri"/>
              </a:rPr>
              <a:t>Purpose</a:t>
            </a:r>
            <a:r>
              <a:rPr lang="en-IN" sz="1800">
                <a:solidFill>
                  <a:schemeClr val="dk1"/>
                </a:solidFill>
                <a:latin typeface="Calibri"/>
                <a:ea typeface="Calibri"/>
                <a:cs typeface="Calibri"/>
                <a:sym typeface="Calibri"/>
              </a:rPr>
              <a:t>: Captures video proof discreetly.</a:t>
            </a:r>
            <a:br>
              <a:rPr lang="en-IN" sz="1800">
                <a:solidFill>
                  <a:schemeClr val="dk1"/>
                </a:solidFill>
                <a:latin typeface="Calibri"/>
                <a:ea typeface="Calibri"/>
                <a:cs typeface="Calibri"/>
                <a:sym typeface="Calibri"/>
              </a:rPr>
            </a:br>
            <a:r>
              <a:rPr lang="en-IN" sz="1800" b="1">
                <a:solidFill>
                  <a:schemeClr val="dk1"/>
                </a:solidFill>
                <a:latin typeface="Calibri"/>
                <a:ea typeface="Calibri"/>
                <a:cs typeface="Calibri"/>
                <a:sym typeface="Calibri"/>
              </a:rPr>
              <a:t>Tools Used</a:t>
            </a:r>
            <a:r>
              <a:rPr lang="en-IN" sz="1800">
                <a:solidFill>
                  <a:schemeClr val="dk1"/>
                </a:solidFill>
                <a:latin typeface="Calibri"/>
                <a:ea typeface="Calibri"/>
                <a:cs typeface="Calibri"/>
                <a:sym typeface="Calibri"/>
              </a:rPr>
              <a:t>: Camera API or MediaStore</a:t>
            </a:r>
            <a:br>
              <a:rPr lang="en-IN" sz="1800">
                <a:solidFill>
                  <a:schemeClr val="dk1"/>
                </a:solidFill>
                <a:latin typeface="Calibri"/>
                <a:ea typeface="Calibri"/>
                <a:cs typeface="Calibri"/>
                <a:sym typeface="Calibri"/>
              </a:rPr>
            </a:br>
            <a:r>
              <a:rPr lang="en-IN" sz="1800" b="1">
                <a:solidFill>
                  <a:schemeClr val="dk1"/>
                </a:solidFill>
                <a:latin typeface="Calibri"/>
                <a:ea typeface="Calibri"/>
                <a:cs typeface="Calibri"/>
                <a:sym typeface="Calibri"/>
              </a:rPr>
              <a:t>Basic Features</a:t>
            </a:r>
            <a:r>
              <a:rPr lang="en-IN" sz="1800">
                <a:solidFill>
                  <a:schemeClr val="dk1"/>
                </a:solidFill>
                <a:latin typeface="Calibri"/>
                <a:ea typeface="Calibri"/>
                <a:cs typeface="Calibri"/>
                <a:sym typeface="Calibri"/>
              </a:rPr>
              <a:t>:</a:t>
            </a:r>
            <a:endParaRPr/>
          </a:p>
          <a:p>
            <a:pPr marL="0" marR="0" lvl="0" indent="0" algn="l" rtl="0">
              <a:spcBef>
                <a:spcPts val="0"/>
              </a:spcBef>
              <a:spcAft>
                <a:spcPts val="0"/>
              </a:spcAft>
              <a:buNone/>
            </a:pPr>
            <a:r>
              <a:rPr lang="en-IN" sz="1800">
                <a:solidFill>
                  <a:schemeClr val="dk1"/>
                </a:solidFill>
                <a:latin typeface="Calibri"/>
                <a:ea typeface="Calibri"/>
                <a:cs typeface="Calibri"/>
                <a:sym typeface="Calibri"/>
              </a:rPr>
              <a:t>One-click camera launch</a:t>
            </a:r>
            <a:endParaRPr/>
          </a:p>
          <a:p>
            <a:pPr marL="0" marR="0" lvl="0" indent="0" algn="l" rtl="0">
              <a:spcBef>
                <a:spcPts val="0"/>
              </a:spcBef>
              <a:spcAft>
                <a:spcPts val="0"/>
              </a:spcAft>
              <a:buNone/>
            </a:pPr>
            <a:r>
              <a:rPr lang="en-IN" sz="1800">
                <a:solidFill>
                  <a:schemeClr val="dk1"/>
                </a:solidFill>
                <a:latin typeface="Calibri"/>
                <a:ea typeface="Calibri"/>
                <a:cs typeface="Calibri"/>
                <a:sym typeface="Calibri"/>
              </a:rPr>
              <a:t>Front or rear camera access</a:t>
            </a:r>
            <a:endParaRPr/>
          </a:p>
          <a:p>
            <a:pPr marL="0" marR="0" lvl="0" indent="0" algn="l" rtl="0">
              <a:spcBef>
                <a:spcPts val="0"/>
              </a:spcBef>
              <a:spcAft>
                <a:spcPts val="0"/>
              </a:spcAft>
              <a:buNone/>
            </a:pPr>
            <a:r>
              <a:rPr lang="en-IN" sz="1800">
                <a:solidFill>
                  <a:schemeClr val="dk1"/>
                </a:solidFill>
                <a:latin typeface="Calibri"/>
                <a:ea typeface="Calibri"/>
                <a:cs typeface="Calibri"/>
                <a:sym typeface="Calibri"/>
              </a:rPr>
              <a:t>Local video save</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3" name="Google Shape;243;p20"/>
          <p:cNvSpPr txBox="1"/>
          <p:nvPr/>
        </p:nvSpPr>
        <p:spPr>
          <a:xfrm>
            <a:off x="827584" y="548680"/>
            <a:ext cx="6174432" cy="517064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800"/>
              <a:buFont typeface="Calibri"/>
              <a:buNone/>
            </a:pPr>
            <a:r>
              <a:rPr lang="en-IN" sz="1800" b="1">
                <a:solidFill>
                  <a:schemeClr val="dk1"/>
                </a:solidFill>
                <a:latin typeface="Calibri"/>
                <a:ea typeface="Calibri"/>
                <a:cs typeface="Calibri"/>
                <a:sym typeface="Calibri"/>
              </a:rPr>
              <a:t>Enhanced Functionality</a:t>
            </a:r>
            <a:r>
              <a:rPr lang="en-IN" sz="1800">
                <a:solidFill>
                  <a:schemeClr val="dk1"/>
                </a:solidFill>
                <a:latin typeface="Calibri"/>
                <a:ea typeface="Calibri"/>
                <a:cs typeface="Calibri"/>
                <a:sym typeface="Calibri"/>
              </a:rPr>
              <a:t>:</a:t>
            </a:r>
            <a:endParaRPr/>
          </a:p>
          <a:p>
            <a:pPr marL="0" marR="0" lvl="0" indent="-114300" algn="l" rtl="0">
              <a:spcBef>
                <a:spcPts val="0"/>
              </a:spcBef>
              <a:spcAft>
                <a:spcPts val="0"/>
              </a:spcAft>
              <a:buClr>
                <a:schemeClr val="dk1"/>
              </a:buClr>
              <a:buSzPts val="1800"/>
              <a:buFont typeface="Arial"/>
              <a:buChar char="•"/>
            </a:pPr>
            <a:r>
              <a:rPr lang="en-IN" sz="1800">
                <a:solidFill>
                  <a:schemeClr val="dk1"/>
                </a:solidFill>
                <a:latin typeface="Calibri"/>
                <a:ea typeface="Calibri"/>
                <a:cs typeface="Calibri"/>
                <a:sym typeface="Calibri"/>
              </a:rPr>
              <a:t>🎞️ Auto video (15–30 sec) on SOS</a:t>
            </a:r>
            <a:endParaRPr/>
          </a:p>
          <a:p>
            <a:pPr marL="0" marR="0" lvl="0" indent="-114300" algn="l" rtl="0">
              <a:spcBef>
                <a:spcPts val="0"/>
              </a:spcBef>
              <a:spcAft>
                <a:spcPts val="0"/>
              </a:spcAft>
              <a:buClr>
                <a:schemeClr val="dk1"/>
              </a:buClr>
              <a:buSzPts val="1800"/>
              <a:buFont typeface="Arial"/>
              <a:buChar char="•"/>
            </a:pPr>
            <a:r>
              <a:rPr lang="en-IN" sz="1800">
                <a:solidFill>
                  <a:schemeClr val="dk1"/>
                </a:solidFill>
                <a:latin typeface="Calibri"/>
                <a:ea typeface="Calibri"/>
                <a:cs typeface="Calibri"/>
                <a:sym typeface="Calibri"/>
              </a:rPr>
              <a:t>📡 Upload to Firebase or Drive</a:t>
            </a:r>
            <a:endParaRPr/>
          </a:p>
          <a:p>
            <a:pPr marL="0" marR="0" lvl="0" indent="-114300" algn="l" rtl="0">
              <a:spcBef>
                <a:spcPts val="0"/>
              </a:spcBef>
              <a:spcAft>
                <a:spcPts val="0"/>
              </a:spcAft>
              <a:buClr>
                <a:schemeClr val="dk1"/>
              </a:buClr>
              <a:buSzPts val="1800"/>
              <a:buFont typeface="Arial"/>
              <a:buChar char="•"/>
            </a:pPr>
            <a:r>
              <a:rPr lang="en-IN" sz="1800">
                <a:solidFill>
                  <a:schemeClr val="dk1"/>
                </a:solidFill>
                <a:latin typeface="Calibri"/>
                <a:ea typeface="Calibri"/>
                <a:cs typeface="Calibri"/>
                <a:sym typeface="Calibri"/>
              </a:rPr>
              <a:t>🔕 Silent video mode (no preview)</a:t>
            </a:r>
            <a:endParaRPr/>
          </a:p>
          <a:p>
            <a:pPr marL="0" marR="0" lvl="0" indent="-114300" algn="l" rtl="0">
              <a:spcBef>
                <a:spcPts val="0"/>
              </a:spcBef>
              <a:spcAft>
                <a:spcPts val="0"/>
              </a:spcAft>
              <a:buClr>
                <a:schemeClr val="dk1"/>
              </a:buClr>
              <a:buSzPts val="1800"/>
              <a:buFont typeface="Arial"/>
              <a:buChar char="•"/>
            </a:pPr>
            <a:r>
              <a:rPr lang="en-IN" sz="1800">
                <a:solidFill>
                  <a:schemeClr val="dk1"/>
                </a:solidFill>
                <a:latin typeface="Calibri"/>
                <a:ea typeface="Calibri"/>
                <a:cs typeface="Calibri"/>
                <a:sym typeface="Calibri"/>
              </a:rPr>
              <a:t>🔐 Timestamp + user ID watermark</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IN" sz="1800" b="1">
                <a:solidFill>
                  <a:schemeClr val="dk1"/>
                </a:solidFill>
                <a:latin typeface="Calibri"/>
                <a:ea typeface="Calibri"/>
                <a:cs typeface="Calibri"/>
                <a:sym typeface="Calibri"/>
              </a:rPr>
              <a:t>6. </a:t>
            </a:r>
            <a:r>
              <a:rPr lang="en-IN" sz="2400" b="1">
                <a:solidFill>
                  <a:schemeClr val="dk1"/>
                </a:solidFill>
                <a:latin typeface="Calibri"/>
                <a:ea typeface="Calibri"/>
                <a:cs typeface="Calibri"/>
                <a:sym typeface="Calibri"/>
              </a:rPr>
              <a:t>Trusted Contacts Module</a:t>
            </a:r>
            <a:endParaRPr/>
          </a:p>
          <a:p>
            <a:pPr marL="0" marR="0" lvl="0" indent="0" algn="l" rtl="0">
              <a:spcBef>
                <a:spcPts val="0"/>
              </a:spcBef>
              <a:spcAft>
                <a:spcPts val="0"/>
              </a:spcAft>
              <a:buNone/>
            </a:pPr>
            <a:r>
              <a:rPr lang="en-IN" sz="1800" b="1">
                <a:solidFill>
                  <a:schemeClr val="dk1"/>
                </a:solidFill>
                <a:latin typeface="Calibri"/>
                <a:ea typeface="Calibri"/>
                <a:cs typeface="Calibri"/>
                <a:sym typeface="Calibri"/>
              </a:rPr>
              <a:t>Purpose</a:t>
            </a:r>
            <a:r>
              <a:rPr lang="en-IN" sz="1800">
                <a:solidFill>
                  <a:schemeClr val="dk1"/>
                </a:solidFill>
                <a:latin typeface="Calibri"/>
                <a:ea typeface="Calibri"/>
                <a:cs typeface="Calibri"/>
                <a:sym typeface="Calibri"/>
              </a:rPr>
              <a:t>: Maintains emergency contact list.</a:t>
            </a:r>
            <a:br>
              <a:rPr lang="en-IN" sz="1800">
                <a:solidFill>
                  <a:schemeClr val="dk1"/>
                </a:solidFill>
                <a:latin typeface="Calibri"/>
                <a:ea typeface="Calibri"/>
                <a:cs typeface="Calibri"/>
                <a:sym typeface="Calibri"/>
              </a:rPr>
            </a:br>
            <a:r>
              <a:rPr lang="en-IN" sz="1800" b="1">
                <a:solidFill>
                  <a:schemeClr val="dk1"/>
                </a:solidFill>
                <a:latin typeface="Calibri"/>
                <a:ea typeface="Calibri"/>
                <a:cs typeface="Calibri"/>
                <a:sym typeface="Calibri"/>
              </a:rPr>
              <a:t>Tools Used</a:t>
            </a:r>
            <a:r>
              <a:rPr lang="en-IN" sz="1800">
                <a:solidFill>
                  <a:schemeClr val="dk1"/>
                </a:solidFill>
                <a:latin typeface="Calibri"/>
                <a:ea typeface="Calibri"/>
                <a:cs typeface="Calibri"/>
                <a:sym typeface="Calibri"/>
              </a:rPr>
              <a:t>: Firebase Database / SharedPreferences</a:t>
            </a:r>
            <a:br>
              <a:rPr lang="en-IN" sz="1800">
                <a:solidFill>
                  <a:schemeClr val="dk1"/>
                </a:solidFill>
                <a:latin typeface="Calibri"/>
                <a:ea typeface="Calibri"/>
                <a:cs typeface="Calibri"/>
                <a:sym typeface="Calibri"/>
              </a:rPr>
            </a:br>
            <a:r>
              <a:rPr lang="en-IN" sz="1800" b="1">
                <a:solidFill>
                  <a:schemeClr val="dk1"/>
                </a:solidFill>
                <a:latin typeface="Calibri"/>
                <a:ea typeface="Calibri"/>
                <a:cs typeface="Calibri"/>
                <a:sym typeface="Calibri"/>
              </a:rPr>
              <a:t>Basic Features</a:t>
            </a:r>
            <a:r>
              <a:rPr lang="en-IN" sz="1800">
                <a:solidFill>
                  <a:schemeClr val="dk1"/>
                </a:solidFill>
                <a:latin typeface="Calibri"/>
                <a:ea typeface="Calibri"/>
                <a:cs typeface="Calibri"/>
                <a:sym typeface="Calibri"/>
              </a:rPr>
              <a:t>:</a:t>
            </a:r>
            <a:endParaRPr/>
          </a:p>
          <a:p>
            <a:pPr marL="0" marR="0" lvl="0" indent="0" algn="l" rtl="0">
              <a:spcBef>
                <a:spcPts val="0"/>
              </a:spcBef>
              <a:spcAft>
                <a:spcPts val="0"/>
              </a:spcAft>
              <a:buNone/>
            </a:pPr>
            <a:r>
              <a:rPr lang="en-IN" sz="1800">
                <a:solidFill>
                  <a:schemeClr val="dk1"/>
                </a:solidFill>
                <a:latin typeface="Calibri"/>
                <a:ea typeface="Calibri"/>
                <a:cs typeface="Calibri"/>
                <a:sym typeface="Calibri"/>
              </a:rPr>
              <a:t>Add/edit/remove contacts</a:t>
            </a:r>
            <a:endParaRPr/>
          </a:p>
          <a:p>
            <a:pPr marL="0" marR="0" lvl="0" indent="0" algn="l" rtl="0">
              <a:spcBef>
                <a:spcPts val="0"/>
              </a:spcBef>
              <a:spcAft>
                <a:spcPts val="0"/>
              </a:spcAft>
              <a:buNone/>
            </a:pPr>
            <a:r>
              <a:rPr lang="en-IN" sz="1800">
                <a:solidFill>
                  <a:schemeClr val="dk1"/>
                </a:solidFill>
                <a:latin typeface="Calibri"/>
                <a:ea typeface="Calibri"/>
                <a:cs typeface="Calibri"/>
                <a:sym typeface="Calibri"/>
              </a:rPr>
              <a:t>Auto-notify all during alert</a:t>
            </a:r>
            <a:endParaRPr/>
          </a:p>
          <a:p>
            <a:pPr marL="0" marR="0" lvl="0" indent="0" algn="l" rtl="0">
              <a:spcBef>
                <a:spcPts val="0"/>
              </a:spcBef>
              <a:spcAft>
                <a:spcPts val="0"/>
              </a:spcAft>
              <a:buNone/>
            </a:pPr>
            <a:r>
              <a:rPr lang="en-IN" sz="1800" b="1">
                <a:solidFill>
                  <a:schemeClr val="dk1"/>
                </a:solidFill>
                <a:latin typeface="Calibri"/>
                <a:ea typeface="Calibri"/>
                <a:cs typeface="Calibri"/>
                <a:sym typeface="Calibri"/>
              </a:rPr>
              <a:t>Enhanced Functionality</a:t>
            </a:r>
            <a:r>
              <a:rPr lang="en-IN" sz="1800">
                <a:solidFill>
                  <a:schemeClr val="dk1"/>
                </a:solidFill>
                <a:latin typeface="Calibri"/>
                <a:ea typeface="Calibri"/>
                <a:cs typeface="Calibri"/>
                <a:sym typeface="Calibri"/>
              </a:rPr>
              <a:t>:</a:t>
            </a:r>
            <a:endParaRPr/>
          </a:p>
          <a:p>
            <a:pPr marL="0" marR="0" lvl="0" indent="0" algn="l" rtl="0">
              <a:spcBef>
                <a:spcPts val="0"/>
              </a:spcBef>
              <a:spcAft>
                <a:spcPts val="0"/>
              </a:spcAft>
              <a:buNone/>
            </a:pPr>
            <a:r>
              <a:rPr lang="en-IN" sz="1800">
                <a:solidFill>
                  <a:schemeClr val="dk1"/>
                </a:solidFill>
                <a:latin typeface="Calibri"/>
                <a:ea typeface="Calibri"/>
                <a:cs typeface="Calibri"/>
                <a:sym typeface="Calibri"/>
              </a:rPr>
              <a:t>🧠 AI suggestion from call history</a:t>
            </a:r>
            <a:endParaRPr/>
          </a:p>
          <a:p>
            <a:pPr marL="0" marR="0" lvl="0" indent="0" algn="l" rtl="0">
              <a:spcBef>
                <a:spcPts val="0"/>
              </a:spcBef>
              <a:spcAft>
                <a:spcPts val="0"/>
              </a:spcAft>
              <a:buNone/>
            </a:pPr>
            <a:r>
              <a:rPr lang="en-IN" sz="1800">
                <a:solidFill>
                  <a:schemeClr val="dk1"/>
                </a:solidFill>
                <a:latin typeface="Calibri"/>
                <a:ea typeface="Calibri"/>
                <a:cs typeface="Calibri"/>
                <a:sym typeface="Calibri"/>
              </a:rPr>
              <a:t>🔔 Re-confirm trusted contacts</a:t>
            </a:r>
            <a:endParaRPr/>
          </a:p>
          <a:p>
            <a:pPr marL="0" marR="0" lvl="0" indent="0" algn="l" rtl="0">
              <a:spcBef>
                <a:spcPts val="0"/>
              </a:spcBef>
              <a:spcAft>
                <a:spcPts val="0"/>
              </a:spcAft>
              <a:buNone/>
            </a:pPr>
            <a:r>
              <a:rPr lang="en-IN" sz="1800">
                <a:solidFill>
                  <a:schemeClr val="dk1"/>
                </a:solidFill>
                <a:latin typeface="Calibri"/>
                <a:ea typeface="Calibri"/>
                <a:cs typeface="Calibri"/>
                <a:sym typeface="Calibri"/>
              </a:rPr>
              <a:t>📡 Cloud sync of contacts</a:t>
            </a:r>
            <a:endParaRPr/>
          </a:p>
          <a:p>
            <a:pPr marL="0" marR="0" lvl="0" indent="0" algn="l" rtl="0">
              <a:spcBef>
                <a:spcPts val="0"/>
              </a:spcBef>
              <a:spcAft>
                <a:spcPts val="0"/>
              </a:spcAft>
              <a:buNone/>
            </a:pPr>
            <a:r>
              <a:rPr lang="en-IN" sz="1800">
                <a:solidFill>
                  <a:schemeClr val="dk1"/>
                </a:solidFill>
                <a:latin typeface="Calibri"/>
                <a:ea typeface="Calibri"/>
                <a:cs typeface="Calibri"/>
                <a:sym typeface="Calibri"/>
              </a:rPr>
              <a:t>📞 One-tap call to preferred contact</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47"/>
        <p:cNvGrpSpPr/>
        <p:nvPr/>
      </p:nvGrpSpPr>
      <p:grpSpPr>
        <a:xfrm>
          <a:off x="0" y="0"/>
          <a:ext cx="0" cy="0"/>
          <a:chOff x="0" y="0"/>
          <a:chExt cx="0" cy="0"/>
        </a:xfrm>
      </p:grpSpPr>
      <p:sp>
        <p:nvSpPr>
          <p:cNvPr id="248" name="Google Shape;248;p21"/>
          <p:cNvSpPr txBox="1"/>
          <p:nvPr/>
        </p:nvSpPr>
        <p:spPr>
          <a:xfrm>
            <a:off x="606627" y="210022"/>
            <a:ext cx="7128900" cy="3509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1800" b="1">
                <a:solidFill>
                  <a:schemeClr val="dk1"/>
                </a:solidFill>
                <a:latin typeface="Calibri"/>
                <a:ea typeface="Calibri"/>
                <a:cs typeface="Calibri"/>
                <a:sym typeface="Calibri"/>
              </a:rPr>
              <a:t>7. </a:t>
            </a:r>
            <a:r>
              <a:rPr lang="en-IN" sz="2400" b="1">
                <a:solidFill>
                  <a:schemeClr val="dk1"/>
                </a:solidFill>
                <a:latin typeface="Calibri"/>
                <a:ea typeface="Calibri"/>
                <a:cs typeface="Calibri"/>
                <a:sym typeface="Calibri"/>
              </a:rPr>
              <a:t>Offline SMS Support Module</a:t>
            </a:r>
            <a:endParaRPr/>
          </a:p>
          <a:p>
            <a:pPr marL="0" marR="0" lvl="0" indent="0" algn="l" rtl="0">
              <a:spcBef>
                <a:spcPts val="0"/>
              </a:spcBef>
              <a:spcAft>
                <a:spcPts val="0"/>
              </a:spcAft>
              <a:buNone/>
            </a:pPr>
            <a:r>
              <a:rPr lang="en-IN" sz="1800" b="1">
                <a:solidFill>
                  <a:schemeClr val="dk1"/>
                </a:solidFill>
                <a:latin typeface="Calibri"/>
                <a:ea typeface="Calibri"/>
                <a:cs typeface="Calibri"/>
                <a:sym typeface="Calibri"/>
              </a:rPr>
              <a:t>Purpose</a:t>
            </a:r>
            <a:r>
              <a:rPr lang="en-IN" sz="1800">
                <a:solidFill>
                  <a:schemeClr val="dk1"/>
                </a:solidFill>
                <a:latin typeface="Calibri"/>
                <a:ea typeface="Calibri"/>
                <a:cs typeface="Calibri"/>
                <a:sym typeface="Calibri"/>
              </a:rPr>
              <a:t>: Ensures alerts without internet.</a:t>
            </a:r>
            <a:br>
              <a:rPr lang="en-IN" sz="1800">
                <a:solidFill>
                  <a:schemeClr val="dk1"/>
                </a:solidFill>
                <a:latin typeface="Calibri"/>
                <a:ea typeface="Calibri"/>
                <a:cs typeface="Calibri"/>
                <a:sym typeface="Calibri"/>
              </a:rPr>
            </a:br>
            <a:r>
              <a:rPr lang="en-IN" sz="1800" b="1">
                <a:solidFill>
                  <a:schemeClr val="dk1"/>
                </a:solidFill>
                <a:latin typeface="Calibri"/>
                <a:ea typeface="Calibri"/>
                <a:cs typeface="Calibri"/>
                <a:sym typeface="Calibri"/>
              </a:rPr>
              <a:t>Tools Used</a:t>
            </a:r>
            <a:r>
              <a:rPr lang="en-IN" sz="1800">
                <a:solidFill>
                  <a:schemeClr val="dk1"/>
                </a:solidFill>
                <a:latin typeface="Calibri"/>
                <a:ea typeface="Calibri"/>
                <a:cs typeface="Calibri"/>
                <a:sym typeface="Calibri"/>
              </a:rPr>
              <a:t>: SMS Manager API</a:t>
            </a:r>
            <a:br>
              <a:rPr lang="en-IN" sz="1800">
                <a:solidFill>
                  <a:schemeClr val="dk1"/>
                </a:solidFill>
                <a:latin typeface="Calibri"/>
                <a:ea typeface="Calibri"/>
                <a:cs typeface="Calibri"/>
                <a:sym typeface="Calibri"/>
              </a:rPr>
            </a:br>
            <a:r>
              <a:rPr lang="en-IN" sz="1800" b="1">
                <a:solidFill>
                  <a:schemeClr val="dk1"/>
                </a:solidFill>
                <a:latin typeface="Calibri"/>
                <a:ea typeface="Calibri"/>
                <a:cs typeface="Calibri"/>
                <a:sym typeface="Calibri"/>
              </a:rPr>
              <a:t>Basic Features</a:t>
            </a:r>
            <a:r>
              <a:rPr lang="en-IN" sz="1800">
                <a:solidFill>
                  <a:schemeClr val="dk1"/>
                </a:solidFill>
                <a:latin typeface="Calibri"/>
                <a:ea typeface="Calibri"/>
                <a:cs typeface="Calibri"/>
                <a:sym typeface="Calibri"/>
              </a:rPr>
              <a:t>:</a:t>
            </a:r>
            <a:endParaRPr/>
          </a:p>
          <a:p>
            <a:pPr marL="0" marR="0" lvl="0" indent="0" algn="l" rtl="0">
              <a:spcBef>
                <a:spcPts val="0"/>
              </a:spcBef>
              <a:spcAft>
                <a:spcPts val="0"/>
              </a:spcAft>
              <a:buNone/>
            </a:pPr>
            <a:r>
              <a:rPr lang="en-IN" sz="1800">
                <a:solidFill>
                  <a:schemeClr val="dk1"/>
                </a:solidFill>
                <a:latin typeface="Calibri"/>
                <a:ea typeface="Calibri"/>
                <a:cs typeface="Calibri"/>
                <a:sym typeface="Calibri"/>
              </a:rPr>
              <a:t>Cellular-based SMS alert</a:t>
            </a:r>
            <a:endParaRPr/>
          </a:p>
          <a:p>
            <a:pPr marL="0" marR="0" lvl="0" indent="0" algn="l" rtl="0">
              <a:spcBef>
                <a:spcPts val="0"/>
              </a:spcBef>
              <a:spcAft>
                <a:spcPts val="0"/>
              </a:spcAft>
              <a:buNone/>
            </a:pPr>
            <a:r>
              <a:rPr lang="en-IN" sz="1800">
                <a:solidFill>
                  <a:schemeClr val="dk1"/>
                </a:solidFill>
                <a:latin typeface="Calibri"/>
                <a:ea typeface="Calibri"/>
                <a:cs typeface="Calibri"/>
                <a:sym typeface="Calibri"/>
              </a:rPr>
              <a:t>Location and message content</a:t>
            </a:r>
            <a:endParaRPr/>
          </a:p>
          <a:p>
            <a:pPr marL="0" marR="0" lvl="0" indent="0" algn="l" rtl="0">
              <a:spcBef>
                <a:spcPts val="0"/>
              </a:spcBef>
              <a:spcAft>
                <a:spcPts val="0"/>
              </a:spcAft>
              <a:buNone/>
            </a:pPr>
            <a:r>
              <a:rPr lang="en-IN" sz="1800" b="1">
                <a:solidFill>
                  <a:schemeClr val="dk1"/>
                </a:solidFill>
                <a:latin typeface="Calibri"/>
                <a:ea typeface="Calibri"/>
                <a:cs typeface="Calibri"/>
                <a:sym typeface="Calibri"/>
              </a:rPr>
              <a:t>Enhanced Functionality</a:t>
            </a:r>
            <a:r>
              <a:rPr lang="en-IN" sz="1800">
                <a:solidFill>
                  <a:schemeClr val="dk1"/>
                </a:solidFill>
                <a:latin typeface="Calibri"/>
                <a:ea typeface="Calibri"/>
                <a:cs typeface="Calibri"/>
                <a:sym typeface="Calibri"/>
              </a:rPr>
              <a:t>:</a:t>
            </a:r>
            <a:endParaRPr/>
          </a:p>
          <a:p>
            <a:pPr marL="0" marR="0" lvl="0" indent="0" algn="l" rtl="0">
              <a:spcBef>
                <a:spcPts val="0"/>
              </a:spcBef>
              <a:spcAft>
                <a:spcPts val="0"/>
              </a:spcAft>
              <a:buNone/>
            </a:pPr>
            <a:r>
              <a:rPr lang="en-IN" sz="1800">
                <a:solidFill>
                  <a:schemeClr val="dk1"/>
                </a:solidFill>
                <a:latin typeface="Calibri"/>
                <a:ea typeface="Calibri"/>
                <a:cs typeface="Calibri"/>
                <a:sym typeface="Calibri"/>
              </a:rPr>
              <a:t>🔁 Retry SMS in background</a:t>
            </a:r>
            <a:endParaRPr/>
          </a:p>
          <a:p>
            <a:pPr marL="0" marR="0" lvl="0" indent="0" algn="l" rtl="0">
              <a:spcBef>
                <a:spcPts val="0"/>
              </a:spcBef>
              <a:spcAft>
                <a:spcPts val="0"/>
              </a:spcAft>
              <a:buNone/>
            </a:pPr>
            <a:r>
              <a:rPr lang="en-IN" sz="1800">
                <a:solidFill>
                  <a:schemeClr val="dk1"/>
                </a:solidFill>
                <a:latin typeface="Calibri"/>
                <a:ea typeface="Calibri"/>
                <a:cs typeface="Calibri"/>
                <a:sym typeface="Calibri"/>
              </a:rPr>
              <a:t>📜 Include timestamp + user ID</a:t>
            </a:r>
            <a:endParaRPr/>
          </a:p>
          <a:p>
            <a:pPr marL="0" marR="0" lvl="0" indent="0" algn="l" rtl="0">
              <a:spcBef>
                <a:spcPts val="0"/>
              </a:spcBef>
              <a:spcAft>
                <a:spcPts val="0"/>
              </a:spcAft>
              <a:buNone/>
            </a:pPr>
            <a:r>
              <a:rPr lang="en-IN" sz="1800">
                <a:solidFill>
                  <a:schemeClr val="dk1"/>
                </a:solidFill>
                <a:latin typeface="Calibri"/>
                <a:ea typeface="Calibri"/>
                <a:cs typeface="Calibri"/>
                <a:sym typeface="Calibri"/>
              </a:rPr>
              <a:t>🔢 Up to 5 contact numbers</a:t>
            </a:r>
            <a:endParaRPr/>
          </a:p>
          <a:p>
            <a:pPr marL="0" marR="0" lvl="0" indent="0" algn="l" rtl="0">
              <a:spcBef>
                <a:spcPts val="0"/>
              </a:spcBef>
              <a:spcAft>
                <a:spcPts val="0"/>
              </a:spcAft>
              <a:buNone/>
            </a:pPr>
            <a:r>
              <a:rPr lang="en-IN" sz="1800">
                <a:solidFill>
                  <a:schemeClr val="dk1"/>
                </a:solidFill>
                <a:latin typeface="Calibri"/>
                <a:ea typeface="Calibri"/>
                <a:cs typeface="Calibri"/>
                <a:sym typeface="Calibri"/>
              </a:rPr>
              <a:t>🔐 Obfuscate message for privacy</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sp>
        <p:nvSpPr>
          <p:cNvPr id="253" name="Google Shape;253;p22"/>
          <p:cNvSpPr txBox="1"/>
          <p:nvPr/>
        </p:nvSpPr>
        <p:spPr>
          <a:xfrm>
            <a:off x="611560" y="908720"/>
            <a:ext cx="7776900" cy="37866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2400"/>
              <a:buFont typeface="Calibri"/>
              <a:buNone/>
            </a:pPr>
            <a:r>
              <a:rPr lang="en-IN" sz="2400" b="1">
                <a:solidFill>
                  <a:schemeClr val="dk1"/>
                </a:solidFill>
                <a:latin typeface="Calibri"/>
                <a:ea typeface="Calibri"/>
                <a:cs typeface="Calibri"/>
                <a:sym typeface="Calibri"/>
              </a:rPr>
              <a:t>8. Settings and Permissions Module</a:t>
            </a:r>
            <a:endParaRPr/>
          </a:p>
          <a:p>
            <a:pPr marL="0" marR="0" lvl="0" indent="0" algn="l" rtl="0">
              <a:spcBef>
                <a:spcPts val="0"/>
              </a:spcBef>
              <a:spcAft>
                <a:spcPts val="0"/>
              </a:spcAft>
              <a:buClr>
                <a:schemeClr val="dk1"/>
              </a:buClr>
              <a:buSzPts val="1800"/>
              <a:buFont typeface="Calibri"/>
              <a:buNone/>
            </a:pPr>
            <a:r>
              <a:rPr lang="en-IN" sz="1800" b="1">
                <a:solidFill>
                  <a:schemeClr val="dk1"/>
                </a:solidFill>
                <a:latin typeface="Calibri"/>
                <a:ea typeface="Calibri"/>
                <a:cs typeface="Calibri"/>
                <a:sym typeface="Calibri"/>
              </a:rPr>
              <a:t>Purpose</a:t>
            </a:r>
            <a:r>
              <a:rPr lang="en-IN" sz="1800">
                <a:solidFill>
                  <a:schemeClr val="dk1"/>
                </a:solidFill>
                <a:latin typeface="Calibri"/>
                <a:ea typeface="Calibri"/>
                <a:cs typeface="Calibri"/>
                <a:sym typeface="Calibri"/>
              </a:rPr>
              <a:t>: Manage app permissions and features.</a:t>
            </a:r>
            <a:br>
              <a:rPr lang="en-IN" sz="1800">
                <a:solidFill>
                  <a:schemeClr val="dk1"/>
                </a:solidFill>
                <a:latin typeface="Calibri"/>
                <a:ea typeface="Calibri"/>
                <a:cs typeface="Calibri"/>
                <a:sym typeface="Calibri"/>
              </a:rPr>
            </a:br>
            <a:r>
              <a:rPr lang="en-IN" sz="1800" b="1">
                <a:solidFill>
                  <a:schemeClr val="dk1"/>
                </a:solidFill>
                <a:latin typeface="Calibri"/>
                <a:ea typeface="Calibri"/>
                <a:cs typeface="Calibri"/>
                <a:sym typeface="Calibri"/>
              </a:rPr>
              <a:t>Tools Used</a:t>
            </a:r>
            <a:r>
              <a:rPr lang="en-IN" sz="1800">
                <a:solidFill>
                  <a:schemeClr val="dk1"/>
                </a:solidFill>
                <a:latin typeface="Calibri"/>
                <a:ea typeface="Calibri"/>
                <a:cs typeface="Calibri"/>
                <a:sym typeface="Calibri"/>
              </a:rPr>
              <a:t>: Android Permissions API</a:t>
            </a:r>
            <a:br>
              <a:rPr lang="en-IN" sz="1800">
                <a:solidFill>
                  <a:schemeClr val="dk1"/>
                </a:solidFill>
                <a:latin typeface="Calibri"/>
                <a:ea typeface="Calibri"/>
                <a:cs typeface="Calibri"/>
                <a:sym typeface="Calibri"/>
              </a:rPr>
            </a:br>
            <a:r>
              <a:rPr lang="en-IN" sz="1800" b="1">
                <a:solidFill>
                  <a:schemeClr val="dk1"/>
                </a:solidFill>
                <a:latin typeface="Calibri"/>
                <a:ea typeface="Calibri"/>
                <a:cs typeface="Calibri"/>
                <a:sym typeface="Calibri"/>
              </a:rPr>
              <a:t>Basic Features</a:t>
            </a:r>
            <a:r>
              <a:rPr lang="en-IN" sz="1800">
                <a:solidFill>
                  <a:schemeClr val="dk1"/>
                </a:solidFill>
                <a:latin typeface="Calibri"/>
                <a:ea typeface="Calibri"/>
                <a:cs typeface="Calibri"/>
                <a:sym typeface="Calibri"/>
              </a:rPr>
              <a:t>:</a:t>
            </a:r>
            <a:endParaRPr/>
          </a:p>
          <a:p>
            <a:pPr marL="0" marR="0" lvl="0" indent="-114300" algn="l" rtl="0">
              <a:spcBef>
                <a:spcPts val="0"/>
              </a:spcBef>
              <a:spcAft>
                <a:spcPts val="0"/>
              </a:spcAft>
              <a:buClr>
                <a:schemeClr val="dk1"/>
              </a:buClr>
              <a:buSzPts val="1800"/>
              <a:buFont typeface="Arial"/>
              <a:buChar char="•"/>
            </a:pPr>
            <a:r>
              <a:rPr lang="en-IN" sz="1800">
                <a:solidFill>
                  <a:schemeClr val="dk1"/>
                </a:solidFill>
                <a:latin typeface="Calibri"/>
                <a:ea typeface="Calibri"/>
                <a:cs typeface="Calibri"/>
                <a:sym typeface="Calibri"/>
              </a:rPr>
              <a:t>Control app features</a:t>
            </a:r>
            <a:endParaRPr/>
          </a:p>
          <a:p>
            <a:pPr marL="0" marR="0" lvl="0" indent="-114300" algn="l" rtl="0">
              <a:spcBef>
                <a:spcPts val="0"/>
              </a:spcBef>
              <a:spcAft>
                <a:spcPts val="0"/>
              </a:spcAft>
              <a:buClr>
                <a:schemeClr val="dk1"/>
              </a:buClr>
              <a:buSzPts val="1800"/>
              <a:buFont typeface="Arial"/>
              <a:buChar char="•"/>
            </a:pPr>
            <a:r>
              <a:rPr lang="en-IN" sz="1800">
                <a:solidFill>
                  <a:schemeClr val="dk1"/>
                </a:solidFill>
                <a:latin typeface="Calibri"/>
                <a:ea typeface="Calibri"/>
                <a:cs typeface="Calibri"/>
                <a:sym typeface="Calibri"/>
              </a:rPr>
              <a:t>Request app permissions</a:t>
            </a:r>
            <a:endParaRPr/>
          </a:p>
          <a:p>
            <a:pPr marL="0" marR="0" lvl="0" indent="0" algn="l" rtl="0">
              <a:spcBef>
                <a:spcPts val="0"/>
              </a:spcBef>
              <a:spcAft>
                <a:spcPts val="0"/>
              </a:spcAft>
              <a:buClr>
                <a:schemeClr val="dk1"/>
              </a:buClr>
              <a:buSzPts val="1800"/>
              <a:buFont typeface="Calibri"/>
              <a:buNone/>
            </a:pPr>
            <a:r>
              <a:rPr lang="en-IN" sz="1800" b="1">
                <a:solidFill>
                  <a:schemeClr val="dk1"/>
                </a:solidFill>
                <a:latin typeface="Calibri"/>
                <a:ea typeface="Calibri"/>
                <a:cs typeface="Calibri"/>
                <a:sym typeface="Calibri"/>
              </a:rPr>
              <a:t>Enhanced Functionality</a:t>
            </a:r>
            <a:r>
              <a:rPr lang="en-IN" sz="1800">
                <a:solidFill>
                  <a:schemeClr val="dk1"/>
                </a:solidFill>
                <a:latin typeface="Calibri"/>
                <a:ea typeface="Calibri"/>
                <a:cs typeface="Calibri"/>
                <a:sym typeface="Calibri"/>
              </a:rPr>
              <a:t>:</a:t>
            </a:r>
            <a:endParaRPr/>
          </a:p>
          <a:p>
            <a:pPr marL="0" marR="0" lvl="0" indent="0" algn="l" rtl="0">
              <a:spcBef>
                <a:spcPts val="0"/>
              </a:spcBef>
              <a:spcAft>
                <a:spcPts val="0"/>
              </a:spcAft>
              <a:buNone/>
            </a:pPr>
            <a:r>
              <a:rPr lang="en-IN" sz="1800">
                <a:solidFill>
                  <a:schemeClr val="dk1"/>
                </a:solidFill>
                <a:latin typeface="Calibri"/>
                <a:ea typeface="Calibri"/>
                <a:cs typeface="Calibri"/>
                <a:sym typeface="Calibri"/>
              </a:rPr>
              <a:t>🎛️ Toggle individual modules</a:t>
            </a:r>
            <a:endParaRPr/>
          </a:p>
          <a:p>
            <a:pPr marL="0" marR="0" lvl="0" indent="0" algn="l" rtl="0">
              <a:spcBef>
                <a:spcPts val="0"/>
              </a:spcBef>
              <a:spcAft>
                <a:spcPts val="0"/>
              </a:spcAft>
              <a:buNone/>
            </a:pPr>
            <a:r>
              <a:rPr lang="en-IN" sz="1800">
                <a:solidFill>
                  <a:schemeClr val="dk1"/>
                </a:solidFill>
                <a:latin typeface="Calibri"/>
                <a:ea typeface="Calibri"/>
                <a:cs typeface="Calibri"/>
                <a:sym typeface="Calibri"/>
              </a:rPr>
              <a:t>⚠️ Alert for battery optimization restrictions</a:t>
            </a:r>
            <a:endParaRPr/>
          </a:p>
          <a:p>
            <a:pPr marL="0" marR="0" lvl="0" indent="0" algn="l" rtl="0">
              <a:spcBef>
                <a:spcPts val="0"/>
              </a:spcBef>
              <a:spcAft>
                <a:spcPts val="0"/>
              </a:spcAft>
              <a:buNone/>
            </a:pPr>
            <a:r>
              <a:rPr lang="en-IN" sz="1800">
                <a:solidFill>
                  <a:schemeClr val="dk1"/>
                </a:solidFill>
                <a:latin typeface="Calibri"/>
                <a:ea typeface="Calibri"/>
                <a:cs typeface="Calibri"/>
                <a:sym typeface="Calibri"/>
              </a:rPr>
              <a:t>🔐 Permission status checker with auto-fix</a:t>
            </a:r>
            <a:endParaRPr/>
          </a:p>
          <a:p>
            <a:pPr marL="0" marR="0" lvl="0" indent="0" algn="l" rtl="0">
              <a:spcBef>
                <a:spcPts val="0"/>
              </a:spcBef>
              <a:spcAft>
                <a:spcPts val="0"/>
              </a:spcAft>
              <a:buNone/>
            </a:pPr>
            <a:r>
              <a:rPr lang="en-IN" sz="1800">
                <a:solidFill>
                  <a:schemeClr val="dk1"/>
                </a:solidFill>
                <a:latin typeface="Calibri"/>
                <a:ea typeface="Calibri"/>
                <a:cs typeface="Calibri"/>
                <a:sym typeface="Calibri"/>
              </a:rPr>
              <a:t>☁️ Export/import settings from cloud</a:t>
            </a:r>
            <a:endParaRPr/>
          </a:p>
          <a:p>
            <a:pPr marL="0" marR="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a:p>
            <a:pPr marL="0" marR="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258" name="Google Shape;258;g374603a6cbf_0_72"/>
          <p:cNvSpPr txBox="1"/>
          <p:nvPr/>
        </p:nvSpPr>
        <p:spPr>
          <a:xfrm>
            <a:off x="611560" y="908720"/>
            <a:ext cx="7776900" cy="36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pic>
        <p:nvPicPr>
          <p:cNvPr id="259" name="Google Shape;259;g374603a6cbf_0_72" title="WhatsApp Image 2025-08-12 at 5.58.52 PM.jpeg"/>
          <p:cNvPicPr preferRelativeResize="0"/>
          <p:nvPr/>
        </p:nvPicPr>
        <p:blipFill>
          <a:blip r:embed="rId3">
            <a:alphaModFix/>
          </a:blip>
          <a:stretch>
            <a:fillRect/>
          </a:stretch>
        </p:blipFill>
        <p:spPr>
          <a:xfrm>
            <a:off x="834625" y="1358620"/>
            <a:ext cx="3403596" cy="5275179"/>
          </a:xfrm>
          <a:prstGeom prst="rect">
            <a:avLst/>
          </a:prstGeom>
          <a:noFill/>
          <a:ln>
            <a:noFill/>
          </a:ln>
        </p:spPr>
      </p:pic>
      <p:pic>
        <p:nvPicPr>
          <p:cNvPr id="260" name="Google Shape;260;g374603a6cbf_0_72" title="WhatsApp Image 2025-08-12 at 5.58.34 PM.jpeg"/>
          <p:cNvPicPr preferRelativeResize="0"/>
          <p:nvPr/>
        </p:nvPicPr>
        <p:blipFill>
          <a:blip r:embed="rId4">
            <a:alphaModFix/>
          </a:blip>
          <a:stretch>
            <a:fillRect/>
          </a:stretch>
        </p:blipFill>
        <p:spPr>
          <a:xfrm>
            <a:off x="4947146" y="1358620"/>
            <a:ext cx="3787528" cy="5275180"/>
          </a:xfrm>
          <a:prstGeom prst="rect">
            <a:avLst/>
          </a:prstGeom>
          <a:noFill/>
          <a:ln>
            <a:noFill/>
          </a:ln>
        </p:spPr>
      </p:pic>
      <p:sp>
        <p:nvSpPr>
          <p:cNvPr id="261" name="Google Shape;261;g374603a6cbf_0_72"/>
          <p:cNvSpPr txBox="1"/>
          <p:nvPr/>
        </p:nvSpPr>
        <p:spPr>
          <a:xfrm>
            <a:off x="-71825" y="299225"/>
            <a:ext cx="2304000" cy="523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IN" sz="2200">
                <a:solidFill>
                  <a:schemeClr val="dk1"/>
                </a:solidFill>
                <a:latin typeface="Calibri"/>
                <a:ea typeface="Calibri"/>
                <a:cs typeface="Calibri"/>
                <a:sym typeface="Calibri"/>
              </a:rPr>
              <a:t>screenshots:</a:t>
            </a:r>
            <a:endParaRPr sz="2200">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66"/>
        <p:cNvGrpSpPr/>
        <p:nvPr/>
      </p:nvGrpSpPr>
      <p:grpSpPr>
        <a:xfrm>
          <a:off x="0" y="0"/>
          <a:ext cx="0" cy="0"/>
          <a:chOff x="0" y="0"/>
          <a:chExt cx="0" cy="0"/>
        </a:xfrm>
      </p:grpSpPr>
      <p:pic>
        <p:nvPicPr>
          <p:cNvPr id="267" name="Google Shape;267;g374603a6cbf_0_84" title="WhatsApp Image 2025-08-03 at 4.40.15 PM.jpeg"/>
          <p:cNvPicPr preferRelativeResize="0"/>
          <p:nvPr/>
        </p:nvPicPr>
        <p:blipFill>
          <a:blip r:embed="rId3">
            <a:alphaModFix/>
          </a:blip>
          <a:stretch>
            <a:fillRect/>
          </a:stretch>
        </p:blipFill>
        <p:spPr>
          <a:xfrm>
            <a:off x="2810050" y="883175"/>
            <a:ext cx="2856774" cy="4108701"/>
          </a:xfrm>
          <a:prstGeom prst="rect">
            <a:avLst/>
          </a:prstGeom>
          <a:noFill/>
          <a:ln>
            <a:noFill/>
          </a:ln>
        </p:spPr>
      </p:pic>
      <p:pic>
        <p:nvPicPr>
          <p:cNvPr id="268" name="Google Shape;268;g374603a6cbf_0_84" title="WhatsApp Image 2025-08-05 at 10.15.56 PM.jpeg"/>
          <p:cNvPicPr preferRelativeResize="0"/>
          <p:nvPr/>
        </p:nvPicPr>
        <p:blipFill>
          <a:blip r:embed="rId4">
            <a:alphaModFix/>
          </a:blip>
          <a:stretch>
            <a:fillRect/>
          </a:stretch>
        </p:blipFill>
        <p:spPr>
          <a:xfrm>
            <a:off x="6124500" y="883175"/>
            <a:ext cx="2939150" cy="4108701"/>
          </a:xfrm>
          <a:prstGeom prst="rect">
            <a:avLst/>
          </a:prstGeom>
          <a:noFill/>
          <a:ln>
            <a:noFill/>
          </a:ln>
        </p:spPr>
      </p:pic>
      <p:pic>
        <p:nvPicPr>
          <p:cNvPr id="269" name="Google Shape;269;g374603a6cbf_0_84" title="WhatsApp Image 2025-08-05 at 9.11.45 PM.jpeg"/>
          <p:cNvPicPr preferRelativeResize="0"/>
          <p:nvPr/>
        </p:nvPicPr>
        <p:blipFill>
          <a:blip r:embed="rId5">
            <a:alphaModFix/>
          </a:blip>
          <a:stretch>
            <a:fillRect/>
          </a:stretch>
        </p:blipFill>
        <p:spPr>
          <a:xfrm>
            <a:off x="0" y="883175"/>
            <a:ext cx="2505250" cy="4108701"/>
          </a:xfrm>
          <a:prstGeom prst="rect">
            <a:avLst/>
          </a:prstGeom>
          <a:noFill/>
          <a:ln>
            <a:noFill/>
          </a:ln>
        </p:spPr>
      </p:pic>
      <p:sp>
        <p:nvSpPr>
          <p:cNvPr id="270" name="Google Shape;270;g374603a6cbf_0_84"/>
          <p:cNvSpPr txBox="1"/>
          <p:nvPr/>
        </p:nvSpPr>
        <p:spPr>
          <a:xfrm>
            <a:off x="112000" y="56000"/>
            <a:ext cx="9052200" cy="738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3600">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5" name="Google Shape;275;p1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IN"/>
              <a:t>Future Scope / Vision</a:t>
            </a:r>
            <a:endParaRPr/>
          </a:p>
        </p:txBody>
      </p:sp>
      <p:sp>
        <p:nvSpPr>
          <p:cNvPr id="276" name="Google Shape;276;p12"/>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fontScale="70000" lnSpcReduction="20000"/>
          </a:bodyPr>
          <a:lstStyle/>
          <a:p>
            <a:pPr marL="0" lvl="0" indent="0" algn="l" rtl="0">
              <a:spcBef>
                <a:spcPts val="0"/>
              </a:spcBef>
              <a:spcAft>
                <a:spcPts val="0"/>
              </a:spcAft>
              <a:buClr>
                <a:schemeClr val="dk1"/>
              </a:buClr>
              <a:buSzPct val="100000"/>
              <a:buNone/>
            </a:pPr>
            <a:r>
              <a:rPr lang="en-IN" sz="3800" b="1"/>
              <a:t>Future Scope / Vision</a:t>
            </a:r>
            <a:endParaRPr/>
          </a:p>
          <a:p>
            <a:pPr marL="342900" lvl="0" indent="-342900" algn="l" rtl="0">
              <a:spcBef>
                <a:spcPts val="448"/>
              </a:spcBef>
              <a:spcAft>
                <a:spcPts val="0"/>
              </a:spcAft>
              <a:buClr>
                <a:schemeClr val="dk1"/>
              </a:buClr>
              <a:buSzPct val="100000"/>
              <a:buChar char="•"/>
            </a:pPr>
            <a:r>
              <a:rPr lang="en-IN" b="1"/>
              <a:t>Wearable IoT:</a:t>
            </a:r>
            <a:r>
              <a:rPr lang="en-IN"/>
              <a:t> Add smart bands, bracelets for quicker SOS.</a:t>
            </a:r>
            <a:endParaRPr/>
          </a:p>
          <a:p>
            <a:pPr marL="342900" lvl="0" indent="-342900" algn="l" rtl="0">
              <a:spcBef>
                <a:spcPts val="448"/>
              </a:spcBef>
              <a:spcAft>
                <a:spcPts val="0"/>
              </a:spcAft>
              <a:buClr>
                <a:schemeClr val="dk1"/>
              </a:buClr>
              <a:buSzPct val="100000"/>
              <a:buChar char="•"/>
            </a:pPr>
            <a:r>
              <a:rPr lang="en-IN" b="1"/>
              <a:t>AI/ML:</a:t>
            </a:r>
            <a:r>
              <a:rPr lang="en-IN"/>
              <a:t> Smart panic detection, auto danger zone updates.</a:t>
            </a:r>
            <a:endParaRPr/>
          </a:p>
          <a:p>
            <a:pPr marL="342900" lvl="0" indent="-342900" algn="l" rtl="0">
              <a:spcBef>
                <a:spcPts val="448"/>
              </a:spcBef>
              <a:spcAft>
                <a:spcPts val="0"/>
              </a:spcAft>
              <a:buClr>
                <a:schemeClr val="dk1"/>
              </a:buClr>
              <a:buSzPct val="100000"/>
              <a:buChar char="•"/>
            </a:pPr>
            <a:r>
              <a:rPr lang="en-IN" b="1"/>
              <a:t>Community Alerts:</a:t>
            </a:r>
            <a:r>
              <a:rPr lang="en-IN"/>
              <a:t> Nearby users can help instantly.</a:t>
            </a:r>
            <a:endParaRPr/>
          </a:p>
          <a:p>
            <a:pPr marL="342900" lvl="0" indent="-342900" algn="l" rtl="0">
              <a:spcBef>
                <a:spcPts val="448"/>
              </a:spcBef>
              <a:spcAft>
                <a:spcPts val="0"/>
              </a:spcAft>
              <a:buClr>
                <a:schemeClr val="dk1"/>
              </a:buClr>
              <a:buSzPct val="100000"/>
              <a:buChar char="•"/>
            </a:pPr>
            <a:r>
              <a:rPr lang="en-IN" b="1"/>
              <a:t>Police Link:</a:t>
            </a:r>
            <a:r>
              <a:rPr lang="en-IN"/>
              <a:t> Direct alerts to local authorities.</a:t>
            </a:r>
            <a:endParaRPr/>
          </a:p>
          <a:p>
            <a:pPr marL="342900" lvl="0" indent="-342900" algn="l" rtl="0">
              <a:spcBef>
                <a:spcPts val="448"/>
              </a:spcBef>
              <a:spcAft>
                <a:spcPts val="0"/>
              </a:spcAft>
              <a:buClr>
                <a:schemeClr val="dk1"/>
              </a:buClr>
              <a:buSzPct val="100000"/>
              <a:buChar char="•"/>
            </a:pPr>
            <a:r>
              <a:rPr lang="en-IN" b="1"/>
              <a:t>Evidence Vault:</a:t>
            </a:r>
            <a:r>
              <a:rPr lang="en-IN"/>
              <a:t> Secure cloud storage for legal proof.</a:t>
            </a:r>
            <a:endParaRPr/>
          </a:p>
          <a:p>
            <a:pPr marL="342900" lvl="0" indent="-342900" algn="l" rtl="0">
              <a:spcBef>
                <a:spcPts val="448"/>
              </a:spcBef>
              <a:spcAft>
                <a:spcPts val="0"/>
              </a:spcAft>
              <a:buClr>
                <a:schemeClr val="dk1"/>
              </a:buClr>
              <a:buSzPct val="100000"/>
              <a:buChar char="•"/>
            </a:pPr>
            <a:r>
              <a:rPr lang="en-IN" b="1"/>
              <a:t>Expand Platforms:</a:t>
            </a:r>
            <a:r>
              <a:rPr lang="en-IN"/>
              <a:t> iOS, web, smartwatch versions.</a:t>
            </a:r>
            <a:endParaRPr/>
          </a:p>
          <a:p>
            <a:pPr marL="342900" lvl="0" indent="-342900" algn="l" rtl="0">
              <a:spcBef>
                <a:spcPts val="448"/>
              </a:spcBef>
              <a:spcAft>
                <a:spcPts val="0"/>
              </a:spcAft>
              <a:buClr>
                <a:schemeClr val="dk1"/>
              </a:buClr>
              <a:buSzPct val="100000"/>
              <a:buChar char="•"/>
            </a:pPr>
            <a:r>
              <a:rPr lang="en-IN" b="1"/>
              <a:t>Collaborations:</a:t>
            </a:r>
            <a:r>
              <a:rPr lang="en-IN"/>
              <a:t> NGOs, CSR, government safety schemes.</a:t>
            </a:r>
            <a:endParaRPr/>
          </a:p>
          <a:p>
            <a:pPr marL="0" lvl="0" indent="0" algn="l" rtl="0">
              <a:spcBef>
                <a:spcPts val="574"/>
              </a:spcBef>
              <a:spcAft>
                <a:spcPts val="0"/>
              </a:spcAft>
              <a:buClr>
                <a:schemeClr val="dk1"/>
              </a:buClr>
              <a:buSzPct val="100000"/>
              <a:buNone/>
            </a:pPr>
            <a:endParaRPr sz="4100" b="1"/>
          </a:p>
          <a:p>
            <a:pPr marL="0" lvl="0" indent="0" algn="l" rtl="0">
              <a:spcBef>
                <a:spcPts val="574"/>
              </a:spcBef>
              <a:spcAft>
                <a:spcPts val="0"/>
              </a:spcAft>
              <a:buClr>
                <a:schemeClr val="dk1"/>
              </a:buClr>
              <a:buSzPct val="100000"/>
              <a:buNone/>
            </a:pPr>
            <a:r>
              <a:rPr lang="en-IN" sz="4100" b="1"/>
              <a:t>Vision</a:t>
            </a:r>
            <a:endParaRPr/>
          </a:p>
          <a:p>
            <a:pPr marL="0" lvl="0" indent="0" algn="l" rtl="0">
              <a:spcBef>
                <a:spcPts val="476"/>
              </a:spcBef>
              <a:spcAft>
                <a:spcPts val="0"/>
              </a:spcAft>
              <a:buClr>
                <a:schemeClr val="dk1"/>
              </a:buClr>
              <a:buSzPct val="100000"/>
              <a:buNone/>
            </a:pPr>
            <a:r>
              <a:rPr lang="en-IN" sz="3400"/>
              <a:t>“Empower women with smart, connected safety — anytime, anywhere — supporting safer communities and SDGs.”</a:t>
            </a:r>
            <a:endParaRPr sz="3400" b="1"/>
          </a:p>
          <a:p>
            <a:pPr marL="342900" lvl="0" indent="-200660" algn="l" rtl="0">
              <a:spcBef>
                <a:spcPts val="448"/>
              </a:spcBef>
              <a:spcAft>
                <a:spcPts val="0"/>
              </a:spcAft>
              <a:buClr>
                <a:schemeClr val="dk1"/>
              </a:buClr>
              <a:buSzPct val="100000"/>
              <a:buNone/>
            </a:pP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282" name="Google Shape;282;g374603a6cbf_0_6"/>
          <p:cNvSpPr txBox="1"/>
          <p:nvPr/>
        </p:nvSpPr>
        <p:spPr>
          <a:xfrm>
            <a:off x="0" y="346525"/>
            <a:ext cx="9144000" cy="1231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3200">
              <a:solidFill>
                <a:schemeClr val="dk1"/>
              </a:solidFill>
              <a:latin typeface="Calibri"/>
              <a:ea typeface="Calibri"/>
              <a:cs typeface="Calibri"/>
              <a:sym typeface="Calibri"/>
            </a:endParaRPr>
          </a:p>
          <a:p>
            <a:pPr marL="0" lvl="0" indent="0" algn="l" rtl="0">
              <a:spcBef>
                <a:spcPts val="0"/>
              </a:spcBef>
              <a:spcAft>
                <a:spcPts val="0"/>
              </a:spcAft>
              <a:buNone/>
            </a:pPr>
            <a:r>
              <a:rPr lang="en-IN" sz="3600">
                <a:solidFill>
                  <a:schemeClr val="dk1"/>
                </a:solidFill>
                <a:latin typeface="Calibri"/>
                <a:ea typeface="Calibri"/>
                <a:cs typeface="Calibri"/>
                <a:sym typeface="Calibri"/>
              </a:rPr>
              <a:t>CONCLUSION:</a:t>
            </a:r>
            <a:endParaRPr sz="3600">
              <a:solidFill>
                <a:schemeClr val="dk1"/>
              </a:solidFill>
              <a:latin typeface="Calibri"/>
              <a:ea typeface="Calibri"/>
              <a:cs typeface="Calibri"/>
              <a:sym typeface="Calibri"/>
            </a:endParaRPr>
          </a:p>
        </p:txBody>
      </p:sp>
      <p:sp>
        <p:nvSpPr>
          <p:cNvPr id="283" name="Google Shape;283;g374603a6cbf_0_6"/>
          <p:cNvSpPr txBox="1"/>
          <p:nvPr/>
        </p:nvSpPr>
        <p:spPr>
          <a:xfrm>
            <a:off x="203400" y="1820225"/>
            <a:ext cx="8844600" cy="5602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1100"/>
              <a:buFont typeface="Arial"/>
              <a:buNone/>
            </a:pPr>
            <a:r>
              <a:rPr lang="en-IN" sz="3200">
                <a:solidFill>
                  <a:schemeClr val="dk1"/>
                </a:solidFill>
                <a:latin typeface="Calibri"/>
                <a:ea typeface="Calibri"/>
                <a:cs typeface="Calibri"/>
                <a:sym typeface="Calibri"/>
              </a:rPr>
              <a:t>SheShield is a complete women’s safety solution that combines SOS alerts, real-time GPS tracking, danger zone detection, and evidence recording in a single mobile app. Its ability to work both online and offline ensures help is always within reach, even in poor network areas. By integrating modern mobile and IoT technologies, SheShield not only provides immediate assistance in emergencies but also empowers women to feel safer and more confident in their daily lives.</a:t>
            </a:r>
            <a:endParaRPr sz="3200">
              <a:solidFill>
                <a:schemeClr val="dk1"/>
              </a:solidFill>
              <a:latin typeface="Calibri"/>
              <a:ea typeface="Calibri"/>
              <a:cs typeface="Calibri"/>
              <a:sym typeface="Calibri"/>
            </a:endParaRPr>
          </a:p>
          <a:p>
            <a:pPr marL="0" lvl="0" indent="0" algn="l" rtl="0">
              <a:spcBef>
                <a:spcPts val="0"/>
              </a:spcBef>
              <a:spcAft>
                <a:spcPts val="0"/>
              </a:spcAft>
              <a:buNone/>
            </a:pPr>
            <a:endParaRPr sz="3200">
              <a:solidFill>
                <a:schemeClr val="dk1"/>
              </a:solidFill>
              <a:latin typeface="Calibri"/>
              <a:ea typeface="Calibri"/>
              <a:cs typeface="Calibri"/>
              <a:sym typeface="Calibri"/>
            </a:endParaRPr>
          </a:p>
        </p:txBody>
      </p:sp>
      <p:sp>
        <p:nvSpPr>
          <p:cNvPr id="284" name="Google Shape;284;g374603a6cbf_0_6"/>
          <p:cNvSpPr txBox="1"/>
          <p:nvPr/>
        </p:nvSpPr>
        <p:spPr>
          <a:xfrm>
            <a:off x="2343650" y="2497325"/>
            <a:ext cx="8740500" cy="4456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3200">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88"/>
        <p:cNvGrpSpPr/>
        <p:nvPr/>
      </p:nvGrpSpPr>
      <p:grpSpPr>
        <a:xfrm>
          <a:off x="0" y="0"/>
          <a:ext cx="0" cy="0"/>
          <a:chOff x="0" y="0"/>
          <a:chExt cx="0" cy="0"/>
        </a:xfrm>
      </p:grpSpPr>
      <p:sp>
        <p:nvSpPr>
          <p:cNvPr id="289" name="Google Shape;289;p1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IN"/>
              <a:t>References</a:t>
            </a:r>
            <a:endParaRPr/>
          </a:p>
        </p:txBody>
      </p:sp>
      <p:sp>
        <p:nvSpPr>
          <p:cNvPr id="290" name="Google Shape;290;p13"/>
          <p:cNvSpPr txBox="1">
            <a:spLocks noGrp="1"/>
          </p:cNvSpPr>
          <p:nvPr>
            <p:ph type="body" idx="1"/>
          </p:nvPr>
        </p:nvSpPr>
        <p:spPr>
          <a:xfrm>
            <a:off x="457200" y="1600200"/>
            <a:ext cx="8229600" cy="5000700"/>
          </a:xfrm>
          <a:prstGeom prst="rect">
            <a:avLst/>
          </a:prstGeom>
          <a:noFill/>
          <a:ln>
            <a:noFill/>
          </a:ln>
        </p:spPr>
        <p:txBody>
          <a:bodyPr spcFirstLastPara="1" wrap="square" lIns="91425" tIns="45700" rIns="91425" bIns="45700" anchor="t" anchorCtr="0">
            <a:normAutofit fontScale="25000" lnSpcReduction="20000"/>
          </a:bodyPr>
          <a:lstStyle/>
          <a:p>
            <a:pPr marL="0" lvl="0" indent="0" algn="l" rtl="0">
              <a:spcBef>
                <a:spcPts val="390"/>
              </a:spcBef>
              <a:spcAft>
                <a:spcPts val="0"/>
              </a:spcAft>
              <a:buClr>
                <a:schemeClr val="dk1"/>
              </a:buClr>
              <a:buSzPts val="275"/>
              <a:buFont typeface="Arial"/>
              <a:buNone/>
            </a:pPr>
            <a:r>
              <a:rPr lang="en-IN" sz="7600" b="1">
                <a:solidFill>
                  <a:srgbClr val="FFC000"/>
                </a:solidFill>
              </a:rPr>
              <a:t>1. Smart Women Safety Device using IoT and GPS Tracker</a:t>
            </a:r>
            <a:endParaRPr sz="7600" b="1">
              <a:solidFill>
                <a:srgbClr val="FFC000"/>
              </a:solidFill>
            </a:endParaRPr>
          </a:p>
          <a:p>
            <a:pPr marL="0" lvl="0" indent="0" algn="l" rtl="0">
              <a:spcBef>
                <a:spcPts val="390"/>
              </a:spcBef>
              <a:spcAft>
                <a:spcPts val="0"/>
              </a:spcAft>
              <a:buClr>
                <a:schemeClr val="dk1"/>
              </a:buClr>
              <a:buSzPts val="275"/>
              <a:buFont typeface="Arial"/>
              <a:buNone/>
            </a:pPr>
            <a:r>
              <a:rPr lang="en-IN" sz="7600" b="1">
                <a:solidFill>
                  <a:srgbClr val="FFC000"/>
                </a:solidFill>
              </a:rPr>
              <a:t>   </a:t>
            </a:r>
            <a:r>
              <a:rPr lang="en-IN" sz="7600" b="1" i="1"/>
              <a:t>G. Uganya, N. Kirubakaran, Besnatin T, M. Boobalan – 2023 International Conference on Intelligent Computing and Control for Engineering, IEEE.</a:t>
            </a:r>
            <a:endParaRPr sz="7600" b="1" i="1"/>
          </a:p>
          <a:p>
            <a:pPr marL="0" lvl="0" indent="0" algn="l" rtl="0">
              <a:spcBef>
                <a:spcPts val="390"/>
              </a:spcBef>
              <a:spcAft>
                <a:spcPts val="0"/>
              </a:spcAft>
              <a:buClr>
                <a:schemeClr val="dk1"/>
              </a:buClr>
              <a:buSzPts val="275"/>
              <a:buFont typeface="Arial"/>
              <a:buNone/>
            </a:pPr>
            <a:endParaRPr sz="7600" b="1">
              <a:solidFill>
                <a:srgbClr val="FFC000"/>
              </a:solidFill>
            </a:endParaRPr>
          </a:p>
          <a:p>
            <a:pPr marL="0" lvl="0" indent="0" algn="l" rtl="0">
              <a:spcBef>
                <a:spcPts val="390"/>
              </a:spcBef>
              <a:spcAft>
                <a:spcPts val="0"/>
              </a:spcAft>
              <a:buClr>
                <a:schemeClr val="dk1"/>
              </a:buClr>
              <a:buSzPts val="275"/>
              <a:buFont typeface="Arial"/>
              <a:buNone/>
            </a:pPr>
            <a:r>
              <a:rPr lang="en-IN" sz="7600" b="1">
                <a:solidFill>
                  <a:srgbClr val="FFC000"/>
                </a:solidFill>
              </a:rPr>
              <a:t>2. Empowering Women's Safety: An Innovative Smart Security System</a:t>
            </a:r>
            <a:endParaRPr sz="7600" b="1">
              <a:solidFill>
                <a:srgbClr val="FFC000"/>
              </a:solidFill>
            </a:endParaRPr>
          </a:p>
          <a:p>
            <a:pPr marL="0" lvl="0" indent="0" algn="l" rtl="0">
              <a:spcBef>
                <a:spcPts val="390"/>
              </a:spcBef>
              <a:spcAft>
                <a:spcPts val="0"/>
              </a:spcAft>
              <a:buClr>
                <a:schemeClr val="dk1"/>
              </a:buClr>
              <a:buSzPts val="275"/>
              <a:buFont typeface="Arial"/>
              <a:buNone/>
            </a:pPr>
            <a:r>
              <a:rPr lang="en-IN" sz="7600" b="1">
                <a:solidFill>
                  <a:srgbClr val="FFC000"/>
                </a:solidFill>
              </a:rPr>
              <a:t>  </a:t>
            </a:r>
            <a:r>
              <a:rPr lang="en-IN" sz="7600" b="1"/>
              <a:t> Yogesh C, Vatchala S – 2023 6th International Conference on Recent Trends in Advance Computing (ICRTAC), IEEE.</a:t>
            </a:r>
            <a:endParaRPr sz="7600" b="1"/>
          </a:p>
          <a:p>
            <a:pPr marL="0" lvl="0" indent="0" algn="l" rtl="0">
              <a:spcBef>
                <a:spcPts val="390"/>
              </a:spcBef>
              <a:spcAft>
                <a:spcPts val="0"/>
              </a:spcAft>
              <a:buClr>
                <a:schemeClr val="dk1"/>
              </a:buClr>
              <a:buSzPts val="275"/>
              <a:buFont typeface="Arial"/>
              <a:buNone/>
            </a:pPr>
            <a:endParaRPr sz="7600" b="1"/>
          </a:p>
          <a:p>
            <a:pPr marL="0" lvl="0" indent="0" algn="l" rtl="0">
              <a:spcBef>
                <a:spcPts val="390"/>
              </a:spcBef>
              <a:spcAft>
                <a:spcPts val="0"/>
              </a:spcAft>
              <a:buClr>
                <a:schemeClr val="dk1"/>
              </a:buClr>
              <a:buSzPts val="275"/>
              <a:buFont typeface="Arial"/>
              <a:buNone/>
            </a:pPr>
            <a:r>
              <a:rPr lang="en-IN" sz="7600" b="1">
                <a:solidFill>
                  <a:srgbClr val="FFC000"/>
                </a:solidFill>
              </a:rPr>
              <a:t>3. Speech Recognition Applications in Enhancing Safety for Women in Built Environment</a:t>
            </a:r>
            <a:endParaRPr sz="7600" b="1">
              <a:solidFill>
                <a:srgbClr val="FFC000"/>
              </a:solidFill>
            </a:endParaRPr>
          </a:p>
          <a:p>
            <a:pPr marL="0" lvl="0" indent="0" algn="l" rtl="0">
              <a:spcBef>
                <a:spcPts val="390"/>
              </a:spcBef>
              <a:spcAft>
                <a:spcPts val="0"/>
              </a:spcAft>
              <a:buClr>
                <a:schemeClr val="dk1"/>
              </a:buClr>
              <a:buSzPts val="275"/>
              <a:buFont typeface="Arial"/>
              <a:buNone/>
            </a:pPr>
            <a:r>
              <a:rPr lang="en-IN" sz="7600" b="1">
                <a:solidFill>
                  <a:srgbClr val="FFC000"/>
                </a:solidFill>
              </a:rPr>
              <a:t>   </a:t>
            </a:r>
            <a:r>
              <a:rPr lang="en-IN" sz="7600" b="1"/>
              <a:t>Mani Gupta, Rashmi Ashtt, Monali Wankar, Ajay Monga – 2023 26th Conference of the Oriental COCOSDA, IEEE.</a:t>
            </a:r>
            <a:endParaRPr sz="7600" b="1"/>
          </a:p>
          <a:p>
            <a:pPr marL="0" lvl="0" indent="0" algn="l" rtl="0">
              <a:spcBef>
                <a:spcPts val="390"/>
              </a:spcBef>
              <a:spcAft>
                <a:spcPts val="0"/>
              </a:spcAft>
              <a:buClr>
                <a:schemeClr val="dk1"/>
              </a:buClr>
              <a:buSzPts val="275"/>
              <a:buFont typeface="Arial"/>
              <a:buNone/>
            </a:pPr>
            <a:endParaRPr sz="7600" b="1"/>
          </a:p>
          <a:p>
            <a:pPr marL="0" lvl="0" indent="0" algn="l" rtl="0">
              <a:spcBef>
                <a:spcPts val="390"/>
              </a:spcBef>
              <a:spcAft>
                <a:spcPts val="0"/>
              </a:spcAft>
              <a:buClr>
                <a:schemeClr val="dk1"/>
              </a:buClr>
              <a:buSzPts val="275"/>
              <a:buFont typeface="Arial"/>
              <a:buNone/>
            </a:pPr>
            <a:r>
              <a:rPr lang="en-IN" sz="7600" b="1">
                <a:solidFill>
                  <a:srgbClr val="FFC000"/>
                </a:solidFill>
              </a:rPr>
              <a:t>4. IoT-Based Women Safety Device Using Haversine Formula</a:t>
            </a:r>
            <a:endParaRPr sz="7600" b="1">
              <a:solidFill>
                <a:srgbClr val="FFC000"/>
              </a:solidFill>
            </a:endParaRPr>
          </a:p>
          <a:p>
            <a:pPr marL="0" lvl="0" indent="0" algn="l" rtl="0">
              <a:spcBef>
                <a:spcPts val="390"/>
              </a:spcBef>
              <a:spcAft>
                <a:spcPts val="0"/>
              </a:spcAft>
              <a:buClr>
                <a:schemeClr val="dk1"/>
              </a:buClr>
              <a:buSzPts val="275"/>
              <a:buFont typeface="Arial"/>
              <a:buNone/>
            </a:pPr>
            <a:r>
              <a:rPr lang="en-IN" sz="7600" b="1">
                <a:solidFill>
                  <a:srgbClr val="FFC000"/>
                </a:solidFill>
              </a:rPr>
              <a:t>   </a:t>
            </a:r>
            <a:r>
              <a:rPr lang="en-IN" sz="7600" b="1"/>
              <a:t>Md Abu Talha, Mehedi Hasan, Mohammad Abdul Mannan, Shameem Ahmad, Md Rifat Hazari, Md Shahriar Parvez, Tamim Hossain, Sanjid Islam – 2025 4th International Conference on Robotics, Electrical and Signal Processing Techniques (ICREST), IEEE</a:t>
            </a:r>
            <a:r>
              <a:rPr lang="en-IN" sz="6800" b="1"/>
              <a:t>.</a:t>
            </a:r>
            <a:endParaRPr sz="6800" b="1"/>
          </a:p>
          <a:p>
            <a:pPr marL="0" lvl="0" indent="0" algn="l" rtl="0">
              <a:spcBef>
                <a:spcPts val="390"/>
              </a:spcBef>
              <a:spcAft>
                <a:spcPts val="0"/>
              </a:spcAft>
              <a:buClr>
                <a:schemeClr val="dk1"/>
              </a:buClr>
              <a:buSzPct val="100000"/>
              <a:buNone/>
            </a:pPr>
            <a:endParaRPr sz="6000" b="1">
              <a:solidFill>
                <a:srgbClr val="FFC000"/>
              </a:solidFill>
            </a:endParaRPr>
          </a:p>
          <a:p>
            <a:pPr marL="0" lvl="0" indent="0" algn="l" rtl="0">
              <a:spcBef>
                <a:spcPts val="208"/>
              </a:spcBef>
              <a:spcAft>
                <a:spcPts val="0"/>
              </a:spcAft>
              <a:buClr>
                <a:schemeClr val="dk1"/>
              </a:buClr>
              <a:buSzPct val="100000"/>
              <a:buNone/>
            </a:pPr>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95"/>
        <p:cNvGrpSpPr/>
        <p:nvPr/>
      </p:nvGrpSpPr>
      <p:grpSpPr>
        <a:xfrm>
          <a:off x="0" y="0"/>
          <a:ext cx="0" cy="0"/>
          <a:chOff x="0" y="0"/>
          <a:chExt cx="0" cy="0"/>
        </a:xfrm>
      </p:grpSpPr>
      <p:sp>
        <p:nvSpPr>
          <p:cNvPr id="296" name="Google Shape;296;g374603a6cbf_2_58"/>
          <p:cNvSpPr txBox="1">
            <a:spLocks noGrp="1"/>
          </p:cNvSpPr>
          <p:nvPr>
            <p:ph type="title"/>
          </p:nvPr>
        </p:nvSpPr>
        <p:spPr>
          <a:xfrm>
            <a:off x="457200" y="274638"/>
            <a:ext cx="8229600" cy="1143000"/>
          </a:xfrm>
          <a:prstGeom prst="rect">
            <a:avLst/>
          </a:prstGeom>
        </p:spPr>
        <p:txBody>
          <a:bodyPr spcFirstLastPara="1" wrap="square" lIns="91425" tIns="45700" rIns="91425" bIns="45700" anchor="ctr" anchorCtr="0">
            <a:normAutofit fontScale="90000"/>
          </a:bodyPr>
          <a:lstStyle/>
          <a:p>
            <a:pPr marL="0" lvl="0" indent="0" algn="ctr" rtl="0">
              <a:spcBef>
                <a:spcPts val="0"/>
              </a:spcBef>
              <a:spcAft>
                <a:spcPts val="0"/>
              </a:spcAft>
              <a:buNone/>
            </a:pPr>
            <a:endParaRPr/>
          </a:p>
          <a:p>
            <a:pPr marL="0" lvl="0" indent="0" algn="ctr" rtl="0">
              <a:spcBef>
                <a:spcPts val="0"/>
              </a:spcBef>
              <a:spcAft>
                <a:spcPts val="0"/>
              </a:spcAft>
              <a:buNone/>
            </a:pPr>
            <a:endParaRPr/>
          </a:p>
        </p:txBody>
      </p:sp>
      <p:sp>
        <p:nvSpPr>
          <p:cNvPr id="297" name="Google Shape;297;g374603a6cbf_2_58"/>
          <p:cNvSpPr txBox="1">
            <a:spLocks noGrp="1"/>
          </p:cNvSpPr>
          <p:nvPr>
            <p:ph type="body" idx="1"/>
          </p:nvPr>
        </p:nvSpPr>
        <p:spPr>
          <a:xfrm>
            <a:off x="457200" y="1600200"/>
            <a:ext cx="8229600" cy="5000700"/>
          </a:xfrm>
          <a:prstGeom prst="rect">
            <a:avLst/>
          </a:prstGeom>
        </p:spPr>
        <p:txBody>
          <a:bodyPr spcFirstLastPara="1" wrap="square" lIns="91425" tIns="45700" rIns="91425" bIns="45700" anchor="t" anchorCtr="0">
            <a:normAutofit fontScale="25000" lnSpcReduction="20000"/>
          </a:bodyPr>
          <a:lstStyle/>
          <a:p>
            <a:pPr marL="0" lvl="0" indent="0" algn="l" rtl="0">
              <a:spcBef>
                <a:spcPts val="360"/>
              </a:spcBef>
              <a:spcAft>
                <a:spcPts val="0"/>
              </a:spcAft>
              <a:buNone/>
            </a:pPr>
            <a:endParaRPr sz="4000"/>
          </a:p>
          <a:p>
            <a:pPr marL="0" lvl="0" indent="0" algn="l" rtl="0">
              <a:spcBef>
                <a:spcPts val="360"/>
              </a:spcBef>
              <a:spcAft>
                <a:spcPts val="0"/>
              </a:spcAft>
              <a:buNone/>
            </a:pPr>
            <a:r>
              <a:rPr lang="en-IN" sz="7600">
                <a:solidFill>
                  <a:srgbClr val="FFC000"/>
                </a:solidFill>
              </a:rPr>
              <a:t>5. ProTecht – Implementation of an IoT based 3-Way Women Safety Device</a:t>
            </a:r>
            <a:endParaRPr sz="7600">
              <a:solidFill>
                <a:srgbClr val="FFC000"/>
              </a:solidFill>
            </a:endParaRPr>
          </a:p>
          <a:p>
            <a:pPr marL="0" lvl="0" indent="0" algn="l" rtl="0">
              <a:spcBef>
                <a:spcPts val="360"/>
              </a:spcBef>
              <a:spcAft>
                <a:spcPts val="0"/>
              </a:spcAft>
              <a:buNone/>
            </a:pPr>
            <a:r>
              <a:rPr lang="en-IN" sz="7600"/>
              <a:t> </a:t>
            </a:r>
            <a:r>
              <a:rPr lang="en-IN" sz="7600">
                <a:solidFill>
                  <a:srgbClr val="000000"/>
                </a:solidFill>
              </a:rPr>
              <a:t>  </a:t>
            </a:r>
            <a:r>
              <a:rPr lang="en-IN" sz="7600" b="1">
                <a:solidFill>
                  <a:srgbClr val="000000"/>
                </a:solidFill>
              </a:rPr>
              <a:t>Trisha Sen, Arpita Dutta, Shubham Singh, Vaegae Naveen Kumar – 2024 3rd International Conference on Electronics, Communication and Aerospace Technology (ICECA), IEEE.</a:t>
            </a:r>
            <a:endParaRPr sz="7600" b="1">
              <a:solidFill>
                <a:srgbClr val="000000"/>
              </a:solidFill>
            </a:endParaRPr>
          </a:p>
          <a:p>
            <a:pPr marL="0" lvl="0" indent="0" algn="l" rtl="0">
              <a:spcBef>
                <a:spcPts val="360"/>
              </a:spcBef>
              <a:spcAft>
                <a:spcPts val="0"/>
              </a:spcAft>
              <a:buNone/>
            </a:pPr>
            <a:endParaRPr sz="7600"/>
          </a:p>
          <a:p>
            <a:pPr marL="0" lvl="0" indent="0" algn="l" rtl="0">
              <a:spcBef>
                <a:spcPts val="360"/>
              </a:spcBef>
              <a:spcAft>
                <a:spcPts val="0"/>
              </a:spcAft>
              <a:buNone/>
            </a:pPr>
            <a:r>
              <a:rPr lang="en-IN" sz="7600">
                <a:solidFill>
                  <a:srgbClr val="FFC000"/>
                </a:solidFill>
              </a:rPr>
              <a:t>6.Women's Safety in Cities Using Android</a:t>
            </a:r>
            <a:endParaRPr sz="7600">
              <a:solidFill>
                <a:srgbClr val="FFC000"/>
              </a:solidFill>
            </a:endParaRPr>
          </a:p>
          <a:p>
            <a:pPr marL="0" lvl="0" indent="0" algn="l" rtl="0">
              <a:spcBef>
                <a:spcPts val="360"/>
              </a:spcBef>
              <a:spcAft>
                <a:spcPts val="0"/>
              </a:spcAft>
              <a:buNone/>
            </a:pPr>
            <a:r>
              <a:rPr lang="en-IN" sz="7600" b="1"/>
              <a:t>   Athira K, Sriharsha R, Rajkumar N – 2023 International Conference on Self Sustainable Artificial Intelligence Systems (ICSSAIS), IEEE.</a:t>
            </a:r>
            <a:endParaRPr sz="7600" b="1"/>
          </a:p>
          <a:p>
            <a:pPr marL="0" lvl="0" indent="0" algn="l" rtl="0">
              <a:spcBef>
                <a:spcPts val="360"/>
              </a:spcBef>
              <a:spcAft>
                <a:spcPts val="0"/>
              </a:spcAft>
              <a:buNone/>
            </a:pPr>
            <a:endParaRPr sz="7600"/>
          </a:p>
          <a:p>
            <a:pPr marL="0" lvl="0" indent="0" algn="l" rtl="0">
              <a:spcBef>
                <a:spcPts val="360"/>
              </a:spcBef>
              <a:spcAft>
                <a:spcPts val="0"/>
              </a:spcAft>
              <a:buNone/>
            </a:pPr>
            <a:r>
              <a:rPr lang="en-IN" sz="7600"/>
              <a:t>7.</a:t>
            </a:r>
            <a:r>
              <a:rPr lang="en-IN" sz="7600">
                <a:solidFill>
                  <a:srgbClr val="FFC000"/>
                </a:solidFill>
              </a:rPr>
              <a:t> IoT-Based Women Safety Gadgets (WSG): Vision, Architecture, and Design Trends</a:t>
            </a:r>
            <a:endParaRPr sz="7600">
              <a:solidFill>
                <a:srgbClr val="FFC000"/>
              </a:solidFill>
            </a:endParaRPr>
          </a:p>
          <a:p>
            <a:pPr marL="0" lvl="0" indent="0" algn="l" rtl="0">
              <a:spcBef>
                <a:spcPts val="360"/>
              </a:spcBef>
              <a:spcAft>
                <a:spcPts val="0"/>
              </a:spcAft>
              <a:buNone/>
            </a:pPr>
            <a:r>
              <a:rPr lang="en-IN" sz="7600" b="1"/>
              <a:t>   S. Saxena, R. S. Rajpurohit, A. K. Yadav – Computers, Materials &amp; Continia, 2023.</a:t>
            </a:r>
            <a:endParaRPr sz="7600" b="1"/>
          </a:p>
          <a:p>
            <a:pPr marL="0" lvl="0" indent="0" algn="l" rtl="0">
              <a:spcBef>
                <a:spcPts val="360"/>
              </a:spcBef>
              <a:spcAft>
                <a:spcPts val="0"/>
              </a:spcAft>
              <a:buNone/>
            </a:pPr>
            <a:endParaRPr sz="7600">
              <a:solidFill>
                <a:srgbClr val="FFC000"/>
              </a:solidFill>
            </a:endParaRPr>
          </a:p>
          <a:p>
            <a:pPr marL="0" lvl="0" indent="0" algn="l" rtl="0">
              <a:spcBef>
                <a:spcPts val="360"/>
              </a:spcBef>
              <a:spcAft>
                <a:spcPts val="0"/>
              </a:spcAft>
              <a:buNone/>
            </a:pPr>
            <a:r>
              <a:rPr lang="en-IN" sz="7600">
                <a:solidFill>
                  <a:srgbClr val="FFC000"/>
                </a:solidFill>
              </a:rPr>
              <a:t>8. I-SWSS: IoT Enabled Smart Women Safety System</a:t>
            </a:r>
            <a:endParaRPr sz="7600">
              <a:solidFill>
                <a:srgbClr val="FFC000"/>
              </a:solidFill>
            </a:endParaRPr>
          </a:p>
          <a:p>
            <a:pPr marL="0" lvl="0" indent="0" algn="l" rtl="0">
              <a:spcBef>
                <a:spcPts val="360"/>
              </a:spcBef>
              <a:spcAft>
                <a:spcPts val="0"/>
              </a:spcAft>
              <a:buNone/>
            </a:pPr>
            <a:r>
              <a:rPr lang="en-IN" sz="7600" b="1"/>
              <a:t>   M. Parameswaran, N. Dayal, V. Sandhiya, Sneha K – 2024 International Conference on Computing, Communication and Networking Technologies (ICCCI), IEEE.</a:t>
            </a:r>
            <a:endParaRPr sz="7600" b="1"/>
          </a:p>
          <a:p>
            <a:pPr marL="0" lvl="0" indent="0" algn="l" rtl="0">
              <a:spcBef>
                <a:spcPts val="360"/>
              </a:spcBef>
              <a:spcAft>
                <a:spcPts val="0"/>
              </a:spcAft>
              <a:buNone/>
            </a:pPr>
            <a:endParaRPr sz="7600"/>
          </a:p>
          <a:p>
            <a:pPr marL="0" lvl="0" indent="0" algn="l" rtl="0">
              <a:spcBef>
                <a:spcPts val="360"/>
              </a:spcBef>
              <a:spcAft>
                <a:spcPts val="0"/>
              </a:spcAft>
              <a:buNone/>
            </a:pPr>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01"/>
        <p:cNvGrpSpPr/>
        <p:nvPr/>
      </p:nvGrpSpPr>
      <p:grpSpPr>
        <a:xfrm>
          <a:off x="0" y="0"/>
          <a:ext cx="0" cy="0"/>
          <a:chOff x="0" y="0"/>
          <a:chExt cx="0" cy="0"/>
        </a:xfrm>
      </p:grpSpPr>
      <p:sp>
        <p:nvSpPr>
          <p:cNvPr id="302" name="Google Shape;302;p14"/>
          <p:cNvSpPr txBox="1"/>
          <p:nvPr/>
        </p:nvSpPr>
        <p:spPr>
          <a:xfrm>
            <a:off x="539552" y="1305341"/>
            <a:ext cx="8064900" cy="923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b="1">
              <a:solidFill>
                <a:schemeClr val="dk1"/>
              </a:solidFill>
              <a:latin typeface="Calibri"/>
              <a:ea typeface="Calibri"/>
              <a:cs typeface="Calibri"/>
              <a:sym typeface="Calibri"/>
            </a:endParaRPr>
          </a:p>
          <a:p>
            <a:pPr marL="0" marR="0" lvl="0" indent="0" algn="l" rtl="0">
              <a:spcBef>
                <a:spcPts val="0"/>
              </a:spcBef>
              <a:spcAft>
                <a:spcPts val="0"/>
              </a:spcAft>
              <a:buNone/>
            </a:pPr>
            <a:endParaRPr sz="1800" b="1">
              <a:solidFill>
                <a:schemeClr val="dk1"/>
              </a:solidFill>
              <a:latin typeface="Calibri"/>
              <a:ea typeface="Calibri"/>
              <a:cs typeface="Calibri"/>
              <a:sym typeface="Calibri"/>
            </a:endParaRPr>
          </a:p>
          <a:p>
            <a:pPr marL="0" marR="0" lvl="0" indent="0" algn="l" rtl="0">
              <a:spcBef>
                <a:spcPts val="0"/>
              </a:spcBef>
              <a:spcAft>
                <a:spcPts val="0"/>
              </a:spcAft>
              <a:buClr>
                <a:schemeClr val="dk1"/>
              </a:buClr>
              <a:buSzPts val="1800"/>
              <a:buFont typeface="Calibri"/>
              <a:buNone/>
            </a:pPr>
            <a:r>
              <a:rPr lang="en-IN" sz="1800" b="1">
                <a:solidFill>
                  <a:schemeClr val="dk1"/>
                </a:solidFill>
                <a:latin typeface="Calibri"/>
                <a:ea typeface="Calibri"/>
                <a:cs typeface="Calibri"/>
                <a:sym typeface="Calibri"/>
              </a:rPr>
              <a:t>                                          </a:t>
            </a:r>
            <a:endParaRPr/>
          </a:p>
        </p:txBody>
      </p:sp>
      <p:sp>
        <p:nvSpPr>
          <p:cNvPr id="303" name="Google Shape;303;p14"/>
          <p:cNvSpPr txBox="1"/>
          <p:nvPr/>
        </p:nvSpPr>
        <p:spPr>
          <a:xfrm>
            <a:off x="726600" y="849575"/>
            <a:ext cx="8428500" cy="4540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1100"/>
              <a:buFont typeface="Arial"/>
              <a:buNone/>
            </a:pPr>
            <a:r>
              <a:rPr lang="en-IN" sz="1900">
                <a:solidFill>
                  <a:srgbClr val="FFC000"/>
                </a:solidFill>
                <a:latin typeface="Calibri"/>
                <a:ea typeface="Calibri"/>
                <a:cs typeface="Calibri"/>
                <a:sym typeface="Calibri"/>
              </a:rPr>
              <a:t>9. The Role of IoT in Women’s Safety: A Systematic Literature Review</a:t>
            </a:r>
            <a:endParaRPr sz="1900">
              <a:solidFill>
                <a:srgbClr val="FFC000"/>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IN" sz="1900">
                <a:solidFill>
                  <a:schemeClr val="dk1"/>
                </a:solidFill>
                <a:latin typeface="Calibri"/>
                <a:ea typeface="Calibri"/>
                <a:cs typeface="Calibri"/>
                <a:sym typeface="Calibri"/>
              </a:rPr>
              <a:t> </a:t>
            </a:r>
            <a:r>
              <a:rPr lang="en-IN" sz="1900" b="1">
                <a:solidFill>
                  <a:schemeClr val="dk1"/>
                </a:solidFill>
                <a:latin typeface="Calibri"/>
                <a:ea typeface="Calibri"/>
                <a:cs typeface="Calibri"/>
                <a:sym typeface="Calibri"/>
              </a:rPr>
              <a:t>  S. Farooq, S. Rehman, M. H. Rehman – IEEE Access, 2023.</a:t>
            </a:r>
            <a:endParaRPr sz="1900" b="1">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9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IN" sz="1900">
                <a:solidFill>
                  <a:srgbClr val="FFC000"/>
                </a:solidFill>
                <a:latin typeface="Calibri"/>
                <a:ea typeface="Calibri"/>
                <a:cs typeface="Calibri"/>
                <a:sym typeface="Calibri"/>
              </a:rPr>
              <a:t>10. A Novel Women Safety Android Application</a:t>
            </a:r>
            <a:endParaRPr sz="1900">
              <a:solidFill>
                <a:srgbClr val="FFC000"/>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IN" sz="1900" b="1">
                <a:solidFill>
                  <a:schemeClr val="dk1"/>
                </a:solidFill>
                <a:latin typeface="Calibri"/>
                <a:ea typeface="Calibri"/>
                <a:cs typeface="Calibri"/>
                <a:sym typeface="Calibri"/>
              </a:rPr>
              <a:t>    N. Kirthiga, Sudharshan, H. Reddy – 2024 International Conference on Ubiquitous and Intelligent Systems (ICUIS), IEEE.</a:t>
            </a:r>
            <a:endParaRPr sz="1900" b="1">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900">
              <a:solidFill>
                <a:srgbClr val="FFC000"/>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IN" sz="1900">
                <a:solidFill>
                  <a:srgbClr val="FFC000"/>
                </a:solidFill>
                <a:latin typeface="Calibri"/>
                <a:ea typeface="Calibri"/>
                <a:cs typeface="Calibri"/>
                <a:sym typeface="Calibri"/>
              </a:rPr>
              <a:t>11. AI-Based Smart Wearable Safety System for Women</a:t>
            </a:r>
            <a:endParaRPr sz="1900">
              <a:solidFill>
                <a:srgbClr val="FFC000"/>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IN" sz="1900">
                <a:solidFill>
                  <a:schemeClr val="dk1"/>
                </a:solidFill>
                <a:latin typeface="Calibri"/>
                <a:ea typeface="Calibri"/>
                <a:cs typeface="Calibri"/>
                <a:sym typeface="Calibri"/>
              </a:rPr>
              <a:t>  </a:t>
            </a:r>
            <a:r>
              <a:rPr lang="en-IN" sz="1900" b="1">
                <a:solidFill>
                  <a:schemeClr val="dk1"/>
                </a:solidFill>
                <a:latin typeface="Calibri"/>
                <a:ea typeface="Calibri"/>
                <a:cs typeface="Calibri"/>
                <a:sym typeface="Calibri"/>
              </a:rPr>
              <a:t>  M. A. Gopalakrishnan, S. R. Kannan, P. P. Kumar – 2023 International Conference on Intelligent Computing (IConIC), IEEE.</a:t>
            </a:r>
            <a:endParaRPr sz="1900" b="1">
              <a:solidFill>
                <a:schemeClr val="dk1"/>
              </a:solidFill>
              <a:latin typeface="Calibri"/>
              <a:ea typeface="Calibri"/>
              <a:cs typeface="Calibri"/>
              <a:sym typeface="Calibri"/>
            </a:endParaRPr>
          </a:p>
          <a:p>
            <a:pPr marL="0" lvl="0" indent="0" algn="l" rtl="0">
              <a:spcBef>
                <a:spcPts val="0"/>
              </a:spcBef>
              <a:spcAft>
                <a:spcPts val="0"/>
              </a:spcAft>
              <a:buNone/>
            </a:pPr>
            <a:endParaRPr sz="1900" b="1">
              <a:solidFill>
                <a:schemeClr val="dk1"/>
              </a:solidFill>
              <a:latin typeface="Calibri"/>
              <a:ea typeface="Calibri"/>
              <a:cs typeface="Calibri"/>
              <a:sym typeface="Calibri"/>
            </a:endParaRPr>
          </a:p>
          <a:p>
            <a:pPr marL="0" lvl="0" indent="0" algn="l" rtl="0">
              <a:spcBef>
                <a:spcPts val="0"/>
              </a:spcBef>
              <a:spcAft>
                <a:spcPts val="0"/>
              </a:spcAft>
              <a:buNone/>
            </a:pPr>
            <a:r>
              <a:rPr lang="en-IN" sz="1900">
                <a:solidFill>
                  <a:srgbClr val="FFC000"/>
                </a:solidFill>
                <a:latin typeface="Calibri"/>
                <a:ea typeface="Calibri"/>
                <a:cs typeface="Calibri"/>
                <a:sym typeface="Calibri"/>
              </a:rPr>
              <a:t>12. Herd Routes: A Preventative IoT-Based System for Improving Female Pedestrian Safety</a:t>
            </a:r>
            <a:endParaRPr sz="1900">
              <a:solidFill>
                <a:srgbClr val="FFC000"/>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IN" sz="1900" b="1">
                <a:solidFill>
                  <a:schemeClr val="dk1"/>
                </a:solidFill>
                <a:latin typeface="Calibri"/>
                <a:ea typeface="Calibri"/>
                <a:cs typeface="Calibri"/>
                <a:sym typeface="Calibri"/>
              </a:rPr>
              <a:t> M. Woodburn, et al. – arXiv preprint arXiv:2203.01792, 2022.</a:t>
            </a:r>
            <a:endParaRPr sz="1900" b="1">
              <a:solidFill>
                <a:srgbClr val="FFC000"/>
              </a:solidFill>
              <a:latin typeface="Calibri"/>
              <a:ea typeface="Calibri"/>
              <a:cs typeface="Calibri"/>
              <a:sym typeface="Calibri"/>
            </a:endParaRPr>
          </a:p>
          <a:p>
            <a:pPr marL="0" lvl="0" indent="0" algn="l" rtl="0">
              <a:spcBef>
                <a:spcPts val="0"/>
              </a:spcBef>
              <a:spcAft>
                <a:spcPts val="0"/>
              </a:spcAft>
              <a:buNone/>
            </a:pPr>
            <a:r>
              <a:rPr lang="en-IN" sz="1700">
                <a:solidFill>
                  <a:schemeClr val="dk1"/>
                </a:solidFill>
                <a:latin typeface="Calibri"/>
                <a:ea typeface="Calibri"/>
                <a:cs typeface="Calibri"/>
                <a:sym typeface="Calibri"/>
              </a:rPr>
              <a:t> </a:t>
            </a:r>
            <a:endParaRPr sz="3200">
              <a:solidFill>
                <a:schemeClr val="dk1"/>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07"/>
        <p:cNvGrpSpPr/>
        <p:nvPr/>
      </p:nvGrpSpPr>
      <p:grpSpPr>
        <a:xfrm>
          <a:off x="0" y="0"/>
          <a:ext cx="0" cy="0"/>
          <a:chOff x="0" y="0"/>
          <a:chExt cx="0" cy="0"/>
        </a:xfrm>
      </p:grpSpPr>
      <p:sp>
        <p:nvSpPr>
          <p:cNvPr id="308" name="Google Shape;308;g374603a6cbf_2_66"/>
          <p:cNvSpPr txBox="1"/>
          <p:nvPr/>
        </p:nvSpPr>
        <p:spPr>
          <a:xfrm>
            <a:off x="539552" y="1305341"/>
            <a:ext cx="8064900" cy="5849100"/>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Clr>
                <a:schemeClr val="dk1"/>
              </a:buClr>
              <a:buSzPts val="1100"/>
              <a:buFont typeface="Arial"/>
              <a:buNone/>
            </a:pPr>
            <a:r>
              <a:rPr lang="en-IN" sz="1900" b="1">
                <a:solidFill>
                  <a:srgbClr val="FFC000"/>
                </a:solidFill>
                <a:latin typeface="Calibri"/>
                <a:ea typeface="Calibri"/>
                <a:cs typeface="Calibri"/>
                <a:sym typeface="Calibri"/>
              </a:rPr>
              <a:t>13.IoT-Enabled Smart Safety Alert System for Women</a:t>
            </a:r>
            <a:endParaRPr sz="1900" b="1">
              <a:solidFill>
                <a:srgbClr val="FFC000"/>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IN" sz="1900" b="1">
                <a:solidFill>
                  <a:schemeClr val="dk1"/>
                </a:solidFill>
                <a:latin typeface="Calibri"/>
                <a:ea typeface="Calibri"/>
                <a:cs typeface="Calibri"/>
                <a:sym typeface="Calibri"/>
              </a:rPr>
              <a:t>    P. Ramesh, N. Dayal, V. Sandhiya, Sneha K – 2023 IEEE Region 10 Symposium (TENSYMP), IEEE.</a:t>
            </a:r>
            <a:endParaRPr sz="1900" b="1">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900" b="1">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IN" sz="1900" b="1">
                <a:solidFill>
                  <a:srgbClr val="FFC000"/>
                </a:solidFill>
                <a:latin typeface="Calibri"/>
                <a:ea typeface="Calibri"/>
                <a:cs typeface="Calibri"/>
                <a:sym typeface="Calibri"/>
              </a:rPr>
              <a:t>14. Smart Security Device for Women Safety Using GPS and GSM</a:t>
            </a:r>
            <a:endParaRPr sz="1900" b="1">
              <a:solidFill>
                <a:srgbClr val="FFC000"/>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IN" sz="1900" b="1">
                <a:solidFill>
                  <a:schemeClr val="dk1"/>
                </a:solidFill>
                <a:latin typeface="Calibri"/>
                <a:ea typeface="Calibri"/>
                <a:cs typeface="Calibri"/>
                <a:sym typeface="Calibri"/>
              </a:rPr>
              <a:t>    R. Sharma, V. A. Borkar – 2023 International Conference on Advances in Computing, Communication, and Control (ICAC3), IEEE.</a:t>
            </a:r>
            <a:endParaRPr sz="1900" b="1">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900" b="1">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IN" sz="1900" b="1">
                <a:solidFill>
                  <a:srgbClr val="FFC000"/>
                </a:solidFill>
                <a:latin typeface="Calibri"/>
                <a:ea typeface="Calibri"/>
                <a:cs typeface="Calibri"/>
                <a:sym typeface="Calibri"/>
              </a:rPr>
              <a:t>15. Design and Implementation of Women Safety Device Using Arduino and GPS</a:t>
            </a:r>
            <a:endParaRPr sz="1900" b="1">
              <a:solidFill>
                <a:srgbClr val="FFC000"/>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IN" sz="1900" b="1">
                <a:solidFill>
                  <a:schemeClr val="dk1"/>
                </a:solidFill>
                <a:latin typeface="Calibri"/>
                <a:ea typeface="Calibri"/>
                <a:cs typeface="Calibri"/>
                <a:sym typeface="Calibri"/>
              </a:rPr>
              <a:t>    K. B. Priya, S. Revathi, R. Anitha – 2024 International Conference on Sustainable Technologies for Smart Devices (STSD), IEEE.</a:t>
            </a:r>
            <a:endParaRPr sz="1900" b="1">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900" b="1">
              <a:solidFill>
                <a:srgbClr val="FFC000"/>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IN" sz="1900" b="1">
                <a:solidFill>
                  <a:srgbClr val="FFC000"/>
                </a:solidFill>
                <a:latin typeface="Calibri"/>
                <a:ea typeface="Calibri"/>
                <a:cs typeface="Calibri"/>
                <a:sym typeface="Calibri"/>
              </a:rPr>
              <a:t>16. Smart Wearable Device for Women Safety with Live Tracking and Alerting System</a:t>
            </a:r>
            <a:endParaRPr sz="1900" b="1">
              <a:solidFill>
                <a:srgbClr val="FFC000"/>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IN" sz="1900" b="1">
                <a:solidFill>
                  <a:schemeClr val="dk1"/>
                </a:solidFill>
                <a:latin typeface="Calibri"/>
                <a:ea typeface="Calibri"/>
                <a:cs typeface="Calibri"/>
                <a:sym typeface="Calibri"/>
              </a:rPr>
              <a:t>    T. Anjali, M. Rakesh, V. Jayasree – 2023 International Conference on Inventive Research in Computing Applications (ICIRCA), IEEE.</a:t>
            </a:r>
            <a:endParaRPr sz="1900" b="1">
              <a:solidFill>
                <a:schemeClr val="dk1"/>
              </a:solidFill>
              <a:latin typeface="Calibri"/>
              <a:ea typeface="Calibri"/>
              <a:cs typeface="Calibri"/>
              <a:sym typeface="Calibri"/>
            </a:endParaRPr>
          </a:p>
          <a:p>
            <a:pPr marL="0" marR="0" lvl="0" indent="0" algn="l" rtl="0">
              <a:spcBef>
                <a:spcPts val="0"/>
              </a:spcBef>
              <a:spcAft>
                <a:spcPts val="0"/>
              </a:spcAft>
              <a:buNone/>
            </a:pPr>
            <a:endParaRPr sz="1700" b="1">
              <a:solidFill>
                <a:schemeClr val="dk1"/>
              </a:solidFill>
              <a:latin typeface="Calibri"/>
              <a:ea typeface="Calibri"/>
              <a:cs typeface="Calibri"/>
              <a:sym typeface="Calibri"/>
            </a:endParaRPr>
          </a:p>
          <a:p>
            <a:pPr marL="0" marR="0" lvl="0" indent="0" algn="l" rtl="0">
              <a:spcBef>
                <a:spcPts val="0"/>
              </a:spcBef>
              <a:spcAft>
                <a:spcPts val="0"/>
              </a:spcAft>
              <a:buNone/>
            </a:pPr>
            <a:endParaRPr sz="1700" b="1">
              <a:solidFill>
                <a:schemeClr val="dk1"/>
              </a:solidFill>
              <a:latin typeface="Calibri"/>
              <a:ea typeface="Calibri"/>
              <a:cs typeface="Calibri"/>
              <a:sym typeface="Calibri"/>
            </a:endParaRPr>
          </a:p>
          <a:p>
            <a:pPr marL="0" marR="0" lvl="0" indent="0" algn="l" rtl="0">
              <a:spcBef>
                <a:spcPts val="0"/>
              </a:spcBef>
              <a:spcAft>
                <a:spcPts val="0"/>
              </a:spcAft>
              <a:buClr>
                <a:schemeClr val="dk1"/>
              </a:buClr>
              <a:buSzPts val="1800"/>
              <a:buFont typeface="Calibri"/>
              <a:buNone/>
            </a:pPr>
            <a:r>
              <a:rPr lang="en-IN" sz="1700" b="1">
                <a:solidFill>
                  <a:schemeClr val="dk1"/>
                </a:solidFill>
                <a:latin typeface="Calibri"/>
                <a:ea typeface="Calibri"/>
                <a:cs typeface="Calibri"/>
                <a:sym typeface="Calibri"/>
              </a:rPr>
              <a:t>                                          </a:t>
            </a:r>
            <a:endParaRPr sz="170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12"/>
        <p:cNvGrpSpPr/>
        <p:nvPr/>
      </p:nvGrpSpPr>
      <p:grpSpPr>
        <a:xfrm>
          <a:off x="0" y="0"/>
          <a:ext cx="0" cy="0"/>
          <a:chOff x="0" y="0"/>
          <a:chExt cx="0" cy="0"/>
        </a:xfrm>
      </p:grpSpPr>
      <p:sp>
        <p:nvSpPr>
          <p:cNvPr id="313" name="Google Shape;313;p24"/>
          <p:cNvSpPr txBox="1"/>
          <p:nvPr/>
        </p:nvSpPr>
        <p:spPr>
          <a:xfrm>
            <a:off x="1220229" y="2869686"/>
            <a:ext cx="4680600" cy="9234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N" sz="5400">
                <a:solidFill>
                  <a:schemeClr val="dk1"/>
                </a:solidFill>
                <a:latin typeface="Calibri"/>
                <a:ea typeface="Calibri"/>
                <a:cs typeface="Calibri"/>
                <a:sym typeface="Calibri"/>
              </a:rPr>
              <a:t>       THANK YOU </a:t>
            </a:r>
            <a:endParaRPr sz="54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3548</Words>
  <Application>Microsoft Office PowerPoint</Application>
  <PresentationFormat>On-screen Show (4:3)</PresentationFormat>
  <Paragraphs>388</Paragraphs>
  <Slides>36</Slides>
  <Notes>36</Notes>
  <HiddenSlides>0</HiddenSlides>
  <MMClips>0</MMClips>
  <ScaleCrop>false</ScaleCrop>
  <HeadingPairs>
    <vt:vector size="4" baseType="variant">
      <vt:variant>
        <vt:lpstr>Theme</vt:lpstr>
      </vt:variant>
      <vt:variant>
        <vt:i4>1</vt:i4>
      </vt:variant>
      <vt:variant>
        <vt:lpstr>Slide Titles</vt:lpstr>
      </vt:variant>
      <vt:variant>
        <vt:i4>36</vt:i4>
      </vt:variant>
    </vt:vector>
  </HeadingPairs>
  <TitlesOfParts>
    <vt:vector size="37" baseType="lpstr">
      <vt:lpstr>Office Theme</vt:lpstr>
      <vt:lpstr>PowerPoint Presentation</vt:lpstr>
      <vt:lpstr>DOMAIN : Internet of Things (IoT) and Cloud Computing</vt:lpstr>
      <vt:lpstr> Base Paper</vt:lpstr>
      <vt:lpstr>                          ABSTRACT</vt:lpstr>
      <vt:lpstr>PowerPoint Presentation</vt:lpstr>
      <vt:lpstr>INTRODUCTION</vt:lpstr>
      <vt:lpstr>   </vt:lpstr>
      <vt:lpstr>LITERATURE SURVEY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ARCHITECTURE</vt:lpstr>
      <vt:lpstr>PowerPoint Presentation</vt:lpstr>
      <vt:lpstr>   </vt:lpstr>
      <vt:lpstr> </vt:lpstr>
      <vt:lpst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Future Scope / Vision</vt:lpstr>
      <vt:lpstr>PowerPoint Presentation</vt:lpstr>
      <vt:lpstr>References</vt:lpstr>
      <vt:lpstr> </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erajalakshmi.cse</dc:creator>
  <cp:lastModifiedBy>2023PECCS305</cp:lastModifiedBy>
  <cp:revision>1</cp:revision>
  <dcterms:created xsi:type="dcterms:W3CDTF">2025-06-27T05:27:55Z</dcterms:created>
  <dcterms:modified xsi:type="dcterms:W3CDTF">2025-08-13T07:38:54Z</dcterms:modified>
</cp:coreProperties>
</file>